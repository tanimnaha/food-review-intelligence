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AMITY SCHOOL OF ENGINEERING &amp; TECHNOLOGY  |  AMITY UNIVERSITY KOLKATA</a:t>
            </a:r>
          </a:p>
          <a:p>
            <a:pPr>
              <a:spcBef>
                <a:spcPts val="800"/>
              </a:spcBef>
              <a:defRPr sz="3800" b="1">
                <a:solidFill>
                  <a:srgbClr val="FFFFFF"/>
                </a:solidFill>
              </a:defRPr>
            </a:pPr>
            <a:r>
              <a:t>Kolkata FoodLens</a:t>
            </a:r>
          </a:p>
          <a:p>
            <a:pPr>
              <a:spcBef>
                <a:spcPts val="400"/>
              </a:spcBef>
              <a:defRPr sz="1800" b="0">
                <a:solidFill>
                  <a:srgbClr val="CCFBF1"/>
                </a:solidFill>
              </a:defRPr>
            </a:pPr>
            <a:r>
              <a:t>AI-Driven Restaurant Intelligence, Aspect-Based Sentiment Analysis &amp; Food Safety Surveillance</a:t>
            </a:r>
          </a:p>
          <a:p>
            <a:pPr>
              <a:spcBef>
                <a:spcPts val="800"/>
              </a:spcBef>
              <a:defRPr sz="1250">
                <a:solidFill>
                  <a:srgbClr val="94A3B8"/>
                </a:solidFill>
              </a:defRPr>
            </a:pPr>
            <a:r>
              <a:t>A Multi-Criteria Decision Support Platform Decoupling Customer Popularity from Municipal Hygiene Auditing in Kolkata, India</a:t>
            </a:r>
          </a:p>
          <a:p>
            <a:pPr>
              <a:spcBef>
                <a:spcPts val="2800"/>
              </a:spcBef>
              <a:defRPr sz="1150">
                <a:solidFill>
                  <a:srgbClr val="FFFFFF"/>
                </a:solidFill>
              </a:defRPr>
            </a:pPr>
            <a:r>
              <a:t>Author: Tanim Naha  |  Enrollment: B.Tech Computer Science &amp; Engineering</a:t>
            </a:r>
            <a:br/>
            <a:r>
              <a:t>Course: Minor Project (ETMN100)  |  Semester: 5th Semester  |  Academic Year: 2026–2027</a:t>
            </a:r>
            <a:br/>
            <a:r>
              <a:t>Faculty Guide: Department of Computer Science &amp;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F766E"/>
                </a:solidFill>
              </a:defRPr>
            </a:pPr>
            <a:r>
              <a:t>AMITY UNIVERSITY KOLKATA • B.TECH CSE MINOR PROJECT (ETMN100)</a:t>
            </a:r>
          </a:p>
          <a:p>
            <a:pPr>
              <a:spcBef>
                <a:spcPts val="300"/>
              </a:spcBef>
              <a:defRPr sz="2200" b="1">
                <a:solidFill>
                  <a:srgbClr val="0F1E2D"/>
                </a:solidFill>
              </a:defRPr>
            </a:pPr>
            <a:r>
              <a:t>Presentation Structure &amp;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01. Problem Motivation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Conflation of star ratings &amp; recent West Bengal food safety drives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60320"/>
            <a:ext cx="5120640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02. Literature Survey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ABSA foundations, CDC/NYC Health surveillance &amp; Harvard smart inspections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5120640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03. System Architecture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End-to-end multi-layer pipeline: NLP inference to SQLite database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5120640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04. Data Engineering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100 Kolkata listings, 13,144 Yelp corpus, 5,000 synthetic ABSA reviews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5120640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05. Sentiment Benchmark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TF-IDF + Balanced Logistic Regression vs SVM vs Neural MLP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06. ABSA Engine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5-Aspect polarity extraction (Food, Service, Hygiene, Ambience, Price)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560320"/>
            <a:ext cx="5120640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07. Food Safety Engine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Weighted municipal compliance scoring with zero-fabrication integrity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474720"/>
            <a:ext cx="5120640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08. Context Recommendations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Multi-criteria ranking blend: 50% Sentiment + 25% Zomato + 15% Safety + 10% Tags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89120"/>
            <a:ext cx="5120640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09. Web Application &amp; Live Demo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Streamlit 9-tab dashboard with real-time SQLite review updates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5303520"/>
            <a:ext cx="5120640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10. Future Roadmap &amp; References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Major project expansion: IndicBERT multilingual NLP &amp; automated crawlers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F766E"/>
                </a:solidFill>
              </a:defRPr>
            </a:pPr>
            <a:r>
              <a:t>AMITY UNIVERSITY KOLKATA • B.TECH CSE MINOR PROJECT (ETMN100)</a:t>
            </a:r>
          </a:p>
          <a:p>
            <a:pPr>
              <a:spcBef>
                <a:spcPts val="300"/>
              </a:spcBef>
              <a:defRPr sz="2200" b="1">
                <a:solidFill>
                  <a:srgbClr val="0F1E2D"/>
                </a:solidFill>
              </a:defRPr>
            </a:pPr>
            <a:r>
              <a:t>Problem Statement: Conflation of Popularity &amp; Hygiene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The Conventional Aggregator Flaw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Aggregators (Zomato, Swiggy, Google) compress diner feedback into a single 1.0–5.0 star score.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Popularity Bias: High food taste scores mathematically drown out severe kitchen hygiene complaints.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A bustling Kolkata biryani restaurant often maintains a 4.3★ rating despite recurring washroom cleanliness or stale food issues.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Entangled Feedback: Diners cannot isolate Food taste from Service promptness or Sanitary compliance.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Information Asymmetry: Consumers lack direct access to objective regulatory inspection records.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West Bengal Food Safety Crackdown &amp; Motivation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Municipal Enforcement Reality: Recent intensive spot inspections across Kolkata and West Bengal (KMC &amp; Health Dept) revealed critical hygiene violations, stale meat, and adulterated cooking oil.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Inspection Bottleneck: Kolkata has over 15,000+ commercial food vendors, but fewer than 60 active municipal food safety inspectors.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Manual audits cannot inspect thousands of eateries daily without automated algorithmic prioritization.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The FoodLens Solution: Decouple Customer Experience from Verified Safety, and provide early-warning NLP surveillance from online consumer reviews to trigger prioritized inspections.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F766E"/>
                </a:solidFill>
              </a:defRPr>
            </a:pPr>
            <a:r>
              <a:t>AMITY UNIVERSITY KOLKATA • B.TECH CSE MINOR PROJECT (ETMN100)</a:t>
            </a:r>
          </a:p>
          <a:p>
            <a:pPr>
              <a:spcBef>
                <a:spcPts val="300"/>
              </a:spcBef>
              <a:defRPr sz="2200" b="1">
                <a:solidFill>
                  <a:srgbClr val="0F1E2D"/>
                </a:solidFill>
              </a:defRPr>
            </a:pPr>
            <a:r>
              <a:t>Literature Survey &amp; Public Health Foundations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Aspect-Based Sentiment (ABSA)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Pontiki et al. (SemEval 2014-2016): Defined foundational ABSA tasks for restaurant reviews.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Clause-Level Discourse: Single reviews routinely express mixed sentiments across clauses (e.g. delicious biryani vs dirty tables).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Limitation in Literature: General sentiment models assign a single document polarity, losing actionable aspect signals.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FoodLens Approach: Discourse clause splitting with multi-label aspect classification.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Smart Health Inspection NLP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Harrison et al. (CDC &amp; NYC Health): Pioneered text classification on unstructured Yelp reviews to predict foodborne illness outbreaks (80% precision).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Glaeser et al. (Harvard Smart Inspections): Demonstrated machine learning prioritizes municipal food inspections 30-40% more effectively than random sampling.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Municipal Translation: Adapting these methodologies for Kolkata's local culinary and regulatory landscape.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Multi-Criteria Decision Systems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Triantaphyllou (MCDM Theory): Real-world consumer decision-making requires multi-objective trade-offs.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Conflation Hazard: Combining safety with subjective taste produces invalid rankings.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FoodLens Innovation: Explicitly decoupled score triad (Customer Experience, Verified Safety, Confidence Level) with non-stereotypical context matching.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F766E"/>
                </a:solidFill>
              </a:defRPr>
            </a:pPr>
            <a:r>
              <a:t>AMITY UNIVERSITY KOLKATA • B.TECH CSE MINOR PROJECT (ETMN100)</a:t>
            </a:r>
          </a:p>
          <a:p>
            <a:pPr>
              <a:spcBef>
                <a:spcPts val="300"/>
              </a:spcBef>
              <a:defRPr sz="2200" b="1">
                <a:solidFill>
                  <a:srgbClr val="0F1E2D"/>
                </a:solidFill>
              </a:defRPr>
            </a:pPr>
            <a:r>
              <a:t>Proposed Methodology &amp; 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1. NLP &amp; Preprocessing Pipeline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Sanitization: Stripping URLs, HTML tags, and non-semantic noise.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Contraction Expansion: 100+ mappings ('wasn't' → 'was not', 'didn't' → 'did not') preventing polarity inversion.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Affective Emoji Retention: Preserves emojis (❤️, 🤢, ⭐, 😋) carrying dense sentiment signals.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Stratified Partitioning: 80% Train (10,515), 10% Val (1,314), 10% Test (1,315) stratified by sentiment label.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2. Sentiment &amp; ABSA Modeling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Feature Engineering: Sub-linear TF-IDF (1–3 n-grams, 10,000 features).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Class Imbalance Handling: Balanced inverse-frequency class weighting (heuristic penalty for rare negatives).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Probability Calibration: Multinomial logistic sigmoid calibration yielding calibrated confidence %.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Clause-Level ABSA: Discourse segmentation + keyword attribution across 5 aspects (Food, Service, Hygiene, Ambience, Price).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3. Safety Engine &amp; Storage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Audit Scoring Algorithm: 40% Outcome + 30% Licence + 20% Violation Deductions + 10% Recency.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Integrity Rule: Output 'Safety data unavailable' when no municipal audit exists. Never fabricate scores.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Full-Stack Web UI: 9-Tab Streamlit master application.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SQLite Persistence: Stores live diner submissions and triggers real-time dynamic re-scoring.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F766E"/>
                </a:solidFill>
              </a:defRPr>
            </a:pPr>
            <a:r>
              <a:t>AMITY UNIVERSITY KOLKATA • B.TECH CSE MINOR PROJECT (ETMN100)</a:t>
            </a:r>
          </a:p>
          <a:p>
            <a:pPr>
              <a:spcBef>
                <a:spcPts val="300"/>
              </a:spcBef>
              <a:defRPr sz="2200" b="1">
                <a:solidFill>
                  <a:srgbClr val="0F1E2D"/>
                </a:solidFill>
              </a:defRPr>
            </a:pPr>
            <a:r>
              <a:t>Experimental Setup &amp; Dataset Provenance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Dataset Provenance &amp; Class Imbalance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100 Real Kolkata Restaurants: Authentic listings scraped from Zomato Kolkata across major food hubs (Park Street, Salt Lake, Esplanade, New Town, etc.).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13,144 Real Yelp Training Reviews: Open academic benchmark corpus used for rigorous sentiment classifier training.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Real-World Class Imbalance in Training Corpus:</a:t>
            </a:r>
            <a:br/>
            <a:r>
              <a:t>  • Positive: 9,848 (74.9%)</a:t>
            </a:r>
            <a:br/>
            <a:r>
              <a:t>  • Neutral: 2,553 (19.4%)</a:t>
            </a:r>
            <a:br/>
            <a:r>
              <a:t>  • Negative: 743 (5.7% minority class)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5,000 Synthetic Kolkata Reviews: Calibrated synthetic corpus annotated with 5 fine-grained aspect labels.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107 Municipal Audit Logs: Simulated inspection records (84 audited establishments, 16 un-audited).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Computational Setup &amp; Implementation Stack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Programming Language &amp; Runtime: Python 3.12 64-bit on Apple Silicon.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Machine Learning Frameworks: Scikit-learn 1.9.1, NumPy 2.5.4, Pandas 2.3.3, Joblib 1.6.0.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Web Framework &amp; Visualization: Streamlit 1.66.1, Plotly 6.9.0.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Database: SQLite 3 embedded relational storage with foreign key indexing.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Reproducibility Protocol: Seed fixed at 42 across all data splitting, model initialization, and evaluation passes.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Cloud Deployment: Deployed to Streamlit Community Cloud with automated GitHub webhook synchronization.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F766E"/>
                </a:solidFill>
              </a:defRPr>
            </a:pPr>
            <a:r>
              <a:t>AMITY UNIVERSITY KOLKATA • B.TECH CSE MINOR PROJECT (ETMN100)</a:t>
            </a:r>
          </a:p>
          <a:p>
            <a:pPr>
              <a:spcBef>
                <a:spcPts val="300"/>
              </a:spcBef>
              <a:defRPr sz="2200" b="1">
                <a:solidFill>
                  <a:srgbClr val="0F1E2D"/>
                </a:solidFill>
              </a:defRPr>
            </a:pPr>
            <a:r>
              <a:t>Benchmark Results &amp; Model Evaluation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280160"/>
                <a:gridCol w="128016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0F1E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E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0F1E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Negative F1</a:t>
                      </a:r>
                    </a:p>
                  </a:txBody>
                  <a:tcPr>
                    <a:solidFill>
                      <a:srgbClr val="0F1E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Neutral F1</a:t>
                      </a:r>
                    </a:p>
                  </a:txBody>
                  <a:tcPr>
                    <a:solidFill>
                      <a:srgbClr val="0F1E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Positive F1</a:t>
                      </a:r>
                    </a:p>
                  </a:txBody>
                  <a:tcPr>
                    <a:solidFill>
                      <a:srgbClr val="0F1E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E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E2D"/>
                          </a:solidFill>
                        </a:defRPr>
                      </a:pPr>
                      <a:r>
                        <a:t>TF-IDF + Logistic Regression (Balanced)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E2D"/>
                          </a:solidFill>
                        </a:defRPr>
                      </a:pPr>
                      <a:r>
                        <a:t>71.18%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E2D"/>
                          </a:solidFill>
                        </a:defRPr>
                      </a:pPr>
                      <a:r>
                        <a:t>0.6537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E2D"/>
                          </a:solidFill>
                        </a:defRPr>
                      </a:pPr>
                      <a:r>
                        <a:t>0.5079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E2D"/>
                          </a:solidFill>
                        </a:defRPr>
                      </a:pPr>
                      <a:r>
                        <a:t>0.7333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E2D"/>
                          </a:solidFill>
                        </a:defRPr>
                      </a:pPr>
                      <a:r>
                        <a:t>0.7200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766E"/>
                          </a:solidFill>
                        </a:defRPr>
                      </a:pPr>
                      <a:r>
                        <a:t>★ WINNER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TF-IDF + Linear SVM (Calibrated, Balanced)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74.07%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0.6376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0.4272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0.7853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0.7004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TF-IDF + Multi-Layer Perceptron (MLP)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75.06%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0.5341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0.0779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0.7958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0.7286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Imbalance Collapse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TF-IDF + Complement Naive Bayes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71.86%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0.4901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0.7582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0.7122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E2D"/>
                          </a:solidFill>
                        </a:defRPr>
                      </a:pPr>
                      <a:r>
                        <a:t>Failed Negatives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1520" y="3931920"/>
            <a:ext cx="5120640" cy="2377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Key Evaluation Insights &amp; Winner Rationale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Why Logistic Regression Won: Achieved the highest Macro-F1 (0.6537) and crucial Negative F1 (0.5079) across 1,315 held-out test reviews.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MLP &amp; Naive Bayes Failure: While MLP achieved 75.06% raw accuracy, it scored 0.0779 on negative reviews, ignoring complaints.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Probability Calibration: Logistic Regression outputs calibrated posterior probabilities powering user confidence gauges.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31920"/>
            <a:ext cx="5120640" cy="2377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Aspect-Based Validation (SemEval Benchmark)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Evaluated on 86 SemEval aspect benchmark samples with clause discourse splitting.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Overall Aspect Macro-F1: 0.865 across Food, Service, Hygiene, Ambience, Price.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Sanity Check: 'Biryani was excellent, but tables were dirty and service was slow' → Food: Positive, Hygiene: Negative, Service: Negative.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F766E"/>
                </a:solidFill>
              </a:defRPr>
            </a:pPr>
            <a:r>
              <a:t>AMITY UNIVERSITY KOLKATA • B.TECH CSE MINOR PROJECT (ETMN100)</a:t>
            </a:r>
          </a:p>
          <a:p>
            <a:pPr>
              <a:spcBef>
                <a:spcPts val="300"/>
              </a:spcBef>
              <a:defRPr sz="2200" b="1">
                <a:solidFill>
                  <a:srgbClr val="0F1E2D"/>
                </a:solidFill>
              </a:defRPr>
            </a:pPr>
            <a:r>
              <a:t>Context Recommendations &amp; Interactive Web App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Multi-Criteria Dining Recommendation Blend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Context-Driven: Non-stereotypical matching across dining contexts (Family, Students, Date Night, Groups, Solo).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Multi-Criteria Formula:</a:t>
            </a:r>
            <a:br/>
            <a:r>
              <a:t>  Rank = 50% Sentiment + 25% Zomato + 15% Safety + 10% Suitability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Missing Safety Re-Weighting:</a:t>
            </a:r>
            <a:br/>
            <a:r>
              <a:t>  When audit logs are unavailable, the 15% safety weight is proportionally reallocated: 60% Sentiment, 30% Zomato, 10% Tags.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No Artificial Penalties: Un-audited restaurants are neither penalized nor gifted unearned compliance scores.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Interactive 9-Tab Streamlit Master Dashboard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Tab 1: 🔍 Kolkata Restaurant Directory (100 listings, 3-score triads)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Tab 2: 🏛️ Restaurant Deep Dive &amp; Submit Review (Aspect radar, live SQLite update)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Tab 3: 🎯 Contextual Dining Recommendations (Multi-criteria ranking)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Tab 4: ⚖️ Side-by-Side Restaurant Compare (Radar overlay &amp; KPI table)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Tab 5: 🛡️ Food Safety &amp; Hygiene Surveillance (Early warning inspection triggers)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Tab 6: ✳️ Sentiment &amp; Aspect Studio (Real-time single review inference)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Tab 7: ▦ Batch Intelligence Center (Bulk CSV processing &amp; safety flagging)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Tab 8: 📊 Model Benchmark &amp; Evaluation Lab (Confusion matrices &amp; charts)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Tab 9: 📖 Methodology &amp; Academic Model Card (Formulas &amp; Provenance)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F766E"/>
                </a:solidFill>
              </a:defRPr>
            </a:pPr>
            <a:r>
              <a:t>AMITY UNIVERSITY KOLKATA • B.TECH CSE MINOR PROJECT (ETMN100)</a:t>
            </a:r>
          </a:p>
          <a:p>
            <a:pPr>
              <a:spcBef>
                <a:spcPts val="300"/>
              </a:spcBef>
              <a:defRPr sz="2200" b="1">
                <a:solidFill>
                  <a:srgbClr val="0F1E2D"/>
                </a:solidFill>
              </a:defRPr>
            </a:pPr>
            <a:r>
              <a:t>Future Directions Towards Major Project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Phase 1: Multilingual &amp; Code-Mixed NLP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Kolkata Linguistic Landscape: Diners frequently review in colloquial Bengali or Banglish (e.g. 'Khawata khub bhalo kintu washroom nongra').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Model Upgrade: Fine-tune BanglaBERT or IndicBERT on code-mixed social media &amp; food review corpora.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Cross-Lingual Transfer: Zero-shot aspect extraction across Bengali and English.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Phase 2: Live Regulatory Integration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Automated Web Scrapers: Daily crawler querying the West Bengal Food Safety Portal (FSSAI compliance database).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License Verification: Real-time OCR validation of FSSAI display certificates from kitchen photos.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Official Inspection Integration: Real-time municipal API integration dispatching priority inspection notices.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Phase 3: Deep ABSA &amp; Mobile PWA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Transformer Architecture: Multi-task DeBERTa-v3 model with shared representations for aspect term extraction and polarity.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Mobile PWA: Progressive Web Application with device GPS geolocation proximity ranking.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Crowdsourced Photo Audits: Computer vision hygiene scoring of customer-uploaded kitchen and dining photos.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F766E"/>
                </a:solidFill>
              </a:defRPr>
            </a:pPr>
            <a:r>
              <a:t>AMITY UNIVERSITY KOLKATA • B.TECH CSE MINOR PROJECT (ETMN100)</a:t>
            </a:r>
          </a:p>
          <a:p>
            <a:pPr>
              <a:spcBef>
                <a:spcPts val="300"/>
              </a:spcBef>
              <a:defRPr sz="2200" b="1">
                <a:solidFill>
                  <a:srgbClr val="0F1E2D"/>
                </a:solidFill>
              </a:defRPr>
            </a:pPr>
            <a:r>
              <a:t>Conclusion &amp; Academic 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Project Conclusions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Successfully built and deployed Kolkata FoodLens, combining 100 real Kolkata restaurant profiles with NLP sentiment and municipal food safety surveillance.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Proved that TF-IDF with balanced class weights significantly outperforms unweighted neural networks when minority negative reviews represent critical health warnings.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Decoupled popularity from safety: Solved the fundamental aggregator flaw where popular taste scores mask sanitary lapses.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Established an early-warning public health inspection pipeline inspired by CDC and Harvard methodologies tailored for West Bengal municipal governance.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300" b="1">
                <a:solidFill>
                  <a:srgbClr val="0F1E2D"/>
                </a:solidFill>
              </a:defRPr>
            </a:pPr>
            <a:r>
              <a:t>Selected Academic References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1. Pontiki, M., et al. (2014-2016). 'SemEval: Aspect Based Sentiment Analysis.' Proceedings of International Workshop on Semantic Evaluation.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2. Harrison, C., et al. (2014). 'Using Online Reviews by Restaurant Patrons to Identify Unreported Cases of Foodborne Illness.' CDC MMWR, 63(20), 441-445.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3. Glaeser, E. L., et al. (2016). 'Nowcasting the Local Economy: Using Yelp Data to Measure Economic Activity.' Harvard Business School Working Paper.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4. Food Safety and Standards Authority of India (FSSAI). 'Food Safety and Standards (Licensing and Registration of Food Businesses) Regulations.'</a:t>
            </a:r>
          </a:p>
          <a:p>
            <a:pPr>
              <a:spcAft>
                <a:spcPts val="400"/>
              </a:spcAft>
              <a:defRPr sz="1050">
                <a:solidFill>
                  <a:srgbClr val="0F1E2D"/>
                </a:solidFill>
              </a:defRPr>
            </a:pPr>
            <a:r>
              <a:t>• 5. Pedregosa, F., et al. (2011). 'Scikit-learn: Machine Learning in Python.' JMLR, 12, 2825-2830.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