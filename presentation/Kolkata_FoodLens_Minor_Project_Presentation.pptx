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5D34B-6A74-4F5F-A7AA-B7BFF6029E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058D1-D89A-4F76-AA50-3B6B012F4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447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CAD89-7674-B419-83EB-D938C128F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5ED517-4F65-D4CF-4AAD-B0D2498D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56110-172E-C177-39DD-28C576F4D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9719A-5EF8-4F83-85EC-4F6541D521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EA943-9152-F5CA-CA22-6BAF12A54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DF5BB-2C63-ECFE-9952-90F3AFE7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518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CB4E3-18CF-1C22-8296-7E8B599A4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B3F81-DC90-D346-15A5-DF3733929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F2DAE-297C-0FF0-534F-A48B9BC6B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62472-FA8B-4833-B6A0-890DB103BE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1E6F0-FD55-3C88-C0CD-1C0FE105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8C60A-616D-9132-C641-FC22E76FA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61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83202-BCEB-ADA9-C5E3-9BB3C08C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CC1D5-C991-9092-4A1E-B644B7B32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9F764-357E-B1BA-A764-7281A8F5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E6267-E976-4C89-BB50-9BC63D5772E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027EA-4A9C-DAC1-8BAB-96594B4C9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009DC-3A49-EF23-793B-152B32E93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541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99481-6380-DD62-40FD-261955BE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AC4BC-1E86-2F8C-1958-51C528E72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E2E768-EB3E-9988-A28E-7F42A408C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B71BA-CB4A-439B-8E85-E8B156EC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CF62AF-9174-4EDE-A9CC-A6326F849C94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ED331A-45D1-DACC-6FF0-AC1110E8A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D22270-7F76-368A-6CC5-149F542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6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33CAE-DA2D-B528-595A-CEE0EEB69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E63B4-4849-44D0-3108-9C0314454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2B3D6-B512-6E63-B37E-E0F0193DC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DD9C1-7481-1A8E-9455-9CE9327B7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576ED0-4791-0534-0F70-5FD4290C3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920DC6-34F8-21DE-B9B2-B3DC656A9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96FA9-C39D-438D-BF8C-12CB551E68C8}" type="datetime1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93EBA-7FA8-F91E-091E-A611FCAF6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A9C278-87A4-D0BC-9E1F-9792D3931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77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256F5-2D1B-B7F7-BE3D-E29B4E0A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188CA9-49DE-5A37-DCB3-A0DE8B49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5F3A-A756-49F9-ACA8-8C11F302AB31}" type="datetime1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1EA7AB-4822-2ACF-026C-7E1F3DB83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51BA3-727A-CE6F-5443-0F5BDA3D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0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5D874-7DAE-3741-3EAB-8955633B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2A7A6-B9A4-4329-B2B1-0D2380DFEB2F}" type="datetime1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4650D5-D42C-0267-BAA1-998AAEC82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C92B6-D407-6A0D-C3E1-E234A98D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3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AB1A8-2E39-CA26-14E9-F50D6035F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34686-AA78-36BD-BF72-FB22BBEBA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15BF8C-B09F-C6F8-715A-3B4393FC2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AC43F-FC76-A870-2C96-33829E3D9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5481-F598-4B14-8F25-AE282E31C23A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5C253-19FA-89A6-28DF-8E8D02F9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68DB0-2CB4-FEF6-40C4-7290B4C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2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9686-88A0-60EF-7606-BEE203A2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23106B-9569-9D80-2CBD-815DEAABA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AB1CE5-32C6-2892-4BEE-5348AF162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94C33F-551F-9D40-706A-A73A4FC36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7314-6D7F-4637-998B-462D7BB1EADD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8609ED-85B4-B47E-0F35-75CB6C3D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B70264-CED7-FB09-B196-B9EFCC4E4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167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2B884-2675-9CE5-273F-41570AA33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F2B50-C261-8FD6-7E17-A585A8564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4323C-6A56-10D1-D6E2-0A16F473F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0A6AF-53B1-422C-90C6-29AC98E9BEE9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01007-C701-2FDF-3D49-9AA6C483A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F5990-9A78-2F95-6820-53D9FBE8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84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6FB077-D409-30BC-21BA-30BFC1D6DE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11CE5-88A4-56AB-3B76-921862EFA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C3A12-B6DC-CFE0-694D-7E035BD35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ADAF-AAD2-4E68-96EC-7091DCB0EC1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A2D0F-720F-C0CE-4EBB-BFF826C04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52736-B78E-01AE-A129-615AC6B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653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00DA42-3588-2FD8-F10E-FCCA0A993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F0FDC-FCFF-ABD2-758E-9E95819AA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103DA-5986-C425-5852-A96DFA749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38BC1-E688-4095-BF09-ADA04B0FF211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EE935-7E6D-0A58-8AFD-57D013A3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EA50D-3703-93BB-7C69-2168E98B5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09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cs.cornell.edu/home/llee/papers/sentiment.home.html" TargetMode="External"/><Relationship Id="rId3" Type="http://schemas.openxmlformats.org/officeDocument/2006/relationships/hyperlink" Target="https://doi.org/10.2200/S00416ED1V01Y201204HLT016" TargetMode="External"/><Relationship Id="rId4" Type="http://schemas.openxmlformats.org/officeDocument/2006/relationships/hyperlink" Target="https://www.jmlr.org/papers/v12/pedregosa11a.html" TargetMode="External"/><Relationship Id="rId5" Type="http://schemas.openxmlformats.org/officeDocument/2006/relationships/hyperlink" Target="https://doi.org/10.5281/zenodo.18723813" TargetMode="External"/><Relationship Id="rId6" Type="http://schemas.openxmlformats.org/officeDocument/2006/relationships/hyperlink" Target="https://scikit-learn.org/" TargetMode="External"/><Relationship Id="rId7" Type="http://schemas.openxmlformats.org/officeDocument/2006/relationships/hyperlink" Target="https://docs.python.org/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C5AF1-5CA1-CCB8-DA4C-72C805FBB2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 lIns="109728" rIns="109728" tIns="109728" bIns="109728" anchor="ctr"/>
          <a:lstStyle/>
          <a:p>
            <a:pPr algn="ctr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Comparative Analysis of Machine Learning Algorithms</a:t>
            </a:r>
          </a:p>
          <a:p>
            <a:pPr algn="ctr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for Sentiment Classification of Online Food Reviews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0CC79-3309-FCB2-1A8C-33FE58A0E9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54864" bIns="54864" anchor="ctr">
            <a:noAutofit/>
          </a:bodyPr>
          <a:lstStyle/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Authors: Tanim Naha, [Member 2], [Member 3]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B.Tech CSE  |  Semester: [Insert Semester]  |  Academic Year: 2026–2027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Amity School of Engineering &amp; Technology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Amity University, Kolkata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Minor Project (ETMN100)  |  Faculty Guide: [Insert Name]</a:t>
            </a:r>
          </a:p>
        </p:txBody>
      </p:sp>
      <p:pic>
        <p:nvPicPr>
          <p:cNvPr id="1026" name="Picture 2" descr="Amity University, Kolkata - Wikipedia">
            <a:extLst>
              <a:ext uri="{FF2B5EF4-FFF2-40B4-BE49-F238E27FC236}">
                <a16:creationId xmlns:a16="http://schemas.microsoft.com/office/drawing/2014/main" id="{57FB8B2A-1E6B-436B-8756-7D4035409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305" y="33329"/>
            <a:ext cx="2506578" cy="87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9189B8-E209-A8D9-D4B4-781344365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</a:t>
            </a:fld>
            <a:endParaRPr lang="en-US"/>
          </a:p>
        </p:txBody>
      </p:sp>
      <p:sp>
        <p:nvSpPr>
          <p:cNvPr id="1027" name="Rectangle 1026"/>
          <p:cNvSpPr/>
          <p:nvPr/>
        </p:nvSpPr>
        <p:spPr>
          <a:xfrm>
            <a:off x="5449824" y="896112"/>
            <a:ext cx="1298448" cy="54864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567229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4;p14">
            <a:extLst>
              <a:ext uri="{FF2B5EF4-FFF2-40B4-BE49-F238E27FC236}">
                <a16:creationId xmlns:a16="http://schemas.microsoft.com/office/drawing/2014/main" id="{FDDF984B-7AA8-0BFA-65E5-C41C57935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975" y="389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Table of Contents</a:t>
            </a:r>
            <a:endParaRPr b="1" dirty="0"/>
          </a:p>
        </p:txBody>
      </p:sp>
      <p:sp>
        <p:nvSpPr>
          <p:cNvPr id="5" name="Google Shape;85;p14">
            <a:extLst>
              <a:ext uri="{FF2B5EF4-FFF2-40B4-BE49-F238E27FC236}">
                <a16:creationId xmlns:a16="http://schemas.microsoft.com/office/drawing/2014/main" id="{E890AAC6-1C1C-40DE-1106-54C7A29614B7}"/>
              </a:ext>
            </a:extLst>
          </p:cNvPr>
          <p:cNvSpPr txBox="1">
            <a:spLocks/>
          </p:cNvSpPr>
          <p:nvPr/>
        </p:nvSpPr>
        <p:spPr>
          <a:xfrm>
            <a:off x="365975" y="144123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spcBef>
                <a:spcPts val="0"/>
              </a:spcBef>
              <a:buClr>
                <a:srgbClr val="000000"/>
              </a:buClr>
              <a:buSzPts val="1800"/>
              <a:buFont typeface="Arial" panose="020B0604020202020204" pitchFamily="34" charset="0"/>
              <a:buChar char="●"/>
            </a:p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766879-43E2-08F3-3FB0-929A1CF5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B41593-6156-CAB9-915A-2B4474826293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783080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783080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1947672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1920240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Problem Statement / Motivation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947672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920240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Literature Survey /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761488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761488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26080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5064" y="2898648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Proposed Methodology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761488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761488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2926080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898648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Experimental Set-up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739896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3739896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3904487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55064" y="3877056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Results and Discussion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739896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739896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3904487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877056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Future Direction Towards Major Project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718304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" y="4718304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" y="4882896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55064" y="4855464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Conclusion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4718304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9632" y="4718304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4882896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86016" y="4855464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989944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00164-4195-C70A-506A-3FF6F9A0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Problem Statement /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3CEA0-56CF-74FC-F219-A18A507E3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69564-61EB-8D98-A76E-C04A1A3B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BE3A6-698E-5EFC-CFCE-04CA17E4C8A2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64792"/>
            <a:ext cx="5989320" cy="224028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15568" y="1947672"/>
            <a:ext cx="5440680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075688"/>
            <a:ext cx="54406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95728"/>
            <a:ext cx="5376672" cy="1170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263445"/>
                </a:solidFill>
                <a:latin typeface="Aptos"/>
              </a:rPr>
              <a:t>Online food platforms contain thousands of reviews. Reading each review manually is slow and makes it difficult to identify common customer opinions at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764792"/>
            <a:ext cx="4224528" cy="2240280"/>
          </a:xfrm>
          <a:prstGeom prst="roundRect">
            <a:avLst>
              <a:gd name="adj" fmla="val 12000"/>
            </a:avLst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984248"/>
            <a:ext cx="365760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E4C66F"/>
                </a:solidFill>
                <a:latin typeface="Aptos"/>
              </a:rPr>
              <a:t>PROJECT 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8352" y="2423160"/>
            <a:ext cx="3657600" cy="10972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Automatically classify a review as Positive, Negative, or Neutral—and compare machine-learning models using the same evaluation criteria.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Prepare review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1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Predict 3 sentiment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Compare model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Project objectives are based on the submitted minor-project proposal.</a:t>
            </a:r>
          </a:p>
        </p:txBody>
      </p:sp>
    </p:spTree>
    <p:extLst>
      <p:ext uri="{BB962C8B-B14F-4D97-AF65-F5344CB8AC3E}">
        <p14:creationId xmlns:p14="http://schemas.microsoft.com/office/powerpoint/2010/main" val="3944405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A7619-AFD2-78E0-2B35-3BB67543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Literature Survey /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5E2EC-3FBE-4EC2-3D8D-1AE3C6B8A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851D8-FF76-DE9A-E99D-F699F110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12DA5-1255-9D13-E976-270DFECAF4AB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55648"/>
            <a:ext cx="3236976" cy="82296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Pang, Lee &amp; Vaithyanathan (2002)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Early work demonstrating machine-learning approaches for sentiment classification.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supports treating sentiment as a text-classification task.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98264" y="1755648"/>
            <a:ext cx="3236976" cy="82296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Bing Liu (2012)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A broad reference covering sentiment analysis, opinion mining, and common challenges.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provides the wider research context for analysing opinions in text.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7848" y="1755648"/>
            <a:ext cx="3236976" cy="82296"/>
          </a:xfrm>
          <a:prstGeom prst="rect">
            <a:avLst/>
          </a:prstGeom>
          <a:solidFill>
            <a:srgbClr val="6489B6"/>
          </a:solidFill>
          <a:ln w="10160"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7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Pedregosa et al. (2011)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7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Introduced scikit-learn as a practical machine-learning toolkit in Python.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supports reproducible model training and evaluation.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10222992" cy="1024128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E8D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645152"/>
            <a:ext cx="1399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A6A1F"/>
                </a:solidFill>
                <a:latin typeface="Aptos"/>
              </a:rPr>
              <a:t>PROJECT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4636008"/>
            <a:ext cx="8366760" cy="58521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This project compares three classic classifiers on one review dataset and looks beyond accuracy to macro F1, which helps reveal weaker performance on less frequent classes.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Literature summary is for presentation context; it is not a claim that these papers used this project dataset.</a:t>
            </a:r>
          </a:p>
        </p:txBody>
      </p:sp>
    </p:spTree>
    <p:extLst>
      <p:ext uri="{BB962C8B-B14F-4D97-AF65-F5344CB8AC3E}">
        <p14:creationId xmlns:p14="http://schemas.microsoft.com/office/powerpoint/2010/main" val="109071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CF9D-B187-A7B2-4ED1-D675E9F0E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3E88A-2B51-8093-B7EE-324E57BC8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401992-37CB-3042-3274-E1A5F3DD0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A4F3C-896F-5EB0-D639-6421E214A03A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5504688" cy="3968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1920240"/>
            <a:ext cx="5074920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507492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END-TO-END NLP WORKFLOW</a:t>
            </a:r>
          </a:p>
        </p:txBody>
      </p:sp>
      <p:pic>
        <p:nvPicPr>
          <p:cNvPr id="12" name="Picture 11" descr="fig01_methodology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17" y="2221992"/>
            <a:ext cx="5132012" cy="1901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261104"/>
            <a:ext cx="4992624" cy="246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2D8C89"/>
                </a:solidFill>
                <a:latin typeface="Aptos"/>
              </a:rPr>
              <a:t>WHY EACH STEP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590288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984" y="4590288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Teach the model examples of sentiment.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937759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TF–IDF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7984" y="4937759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Turns review wording into numerical features.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5285231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Hold-out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984" y="5285231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Checks performance on reviews not used for fitting.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1755648"/>
            <a:ext cx="4764024" cy="3968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1920240"/>
            <a:ext cx="4334256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2048256"/>
            <a:ext cx="43342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DEPLOYED STREAMLIT INTERFACE</a:t>
            </a:r>
          </a:p>
        </p:txBody>
      </p:sp>
      <p:pic>
        <p:nvPicPr>
          <p:cNvPr id="23" name="Picture 22" descr="web_review_analyz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69" y="2249424"/>
            <a:ext cx="4321925" cy="23317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2280" y="4736592"/>
            <a:ext cx="4242816" cy="5760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80" b="0" i="0">
                <a:solidFill>
                  <a:srgbClr val="263445"/>
                </a:solidFill>
                <a:latin typeface="Aptos"/>
              </a:rPr>
              <a:t>A user enters a review and the saved text-classification pipeline returns a sentiment label. Training is done offline; the website performs inference.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21424" y="5367528"/>
            <a:ext cx="1234440" cy="320040"/>
          </a:xfrm>
          <a:prstGeom prst="roundRect">
            <a:avLst>
              <a:gd name="adj" fmla="val 12000"/>
            </a:avLst>
          </a:prstGeom>
          <a:solidFill>
            <a:srgbClr val="ECF7F5"/>
          </a:solidFill>
          <a:ln w="10160">
            <a:solidFill>
              <a:srgbClr val="ECF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5399532"/>
            <a:ext cx="1161288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D8C89"/>
                </a:solidFill>
                <a:latin typeface="Aptos"/>
              </a:rPr>
              <a:t>Input: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5367528"/>
            <a:ext cx="1325880" cy="3200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5399532"/>
            <a:ext cx="1252728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42C4C"/>
                </a:solidFill>
                <a:latin typeface="Aptos"/>
              </a:rPr>
              <a:t>Output: label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19488" y="5367528"/>
            <a:ext cx="1353312" cy="320040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FB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6063" y="5399532"/>
            <a:ext cx="1280160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8A6A1F"/>
                </a:solidFill>
                <a:latin typeface="Aptos"/>
              </a:rPr>
              <a:t>Saved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Workflow based on the project pipeline: labelled data → text representation → model comparison → evaluation → deployed prediction.</a:t>
            </a:r>
          </a:p>
        </p:txBody>
      </p:sp>
    </p:spTree>
    <p:extLst>
      <p:ext uri="{BB962C8B-B14F-4D97-AF65-F5344CB8AC3E}">
        <p14:creationId xmlns:p14="http://schemas.microsoft.com/office/powerpoint/2010/main" val="118791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10E5B-E60D-2B4A-984F-799579A3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Experimental Set-up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C7E31-37D1-BB5A-12F5-46F7C1BE0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C70228-3EA3-C23F-7DA3-00BABD32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B3E0-B704-ADA4-F700-F11295D7230F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292608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1920240"/>
            <a:ext cx="2505456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25054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DATASET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2290572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35000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235000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14,351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76148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0008" y="276148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113532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317296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Missing 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317296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0 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58444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Exact duplicate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0008" y="358444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" y="3936491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399592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Input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399592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4407407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Target field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0008" y="4407407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rating_review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901184"/>
            <a:ext cx="2487168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3445"/>
                </a:solidFill>
                <a:latin typeface="Aptos"/>
              </a:rPr>
              <a:t>3 labels: Positive, Negative, Neutral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3445"/>
                </a:solidFill>
                <a:latin typeface="Aptos"/>
              </a:rPr>
              <a:t>80/20 stratified split · 2,870 test reviews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486400"/>
            <a:ext cx="2487168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80" b="0" i="0">
                <a:solidFill>
                  <a:srgbClr val="667586"/>
                </a:solidFill>
                <a:latin typeface="Aptos"/>
              </a:rPr>
              <a:t>Tools: Python · scikit-learn · pandas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14215" y="1755648"/>
            <a:ext cx="3538728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15384" y="1920240"/>
            <a:ext cx="3127248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4" y="2048256"/>
            <a:ext cx="31272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42C4C"/>
                </a:solidFill>
                <a:latin typeface="Aptos"/>
              </a:rPr>
              <a:t>SENTIMENT DISTRIBUTION</a:t>
            </a:r>
          </a:p>
        </p:txBody>
      </p:sp>
      <p:pic>
        <p:nvPicPr>
          <p:cNvPr id="32" name="Picture 31" descr="sentim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987" y="2340864"/>
            <a:ext cx="2349473" cy="1572768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7726679" y="1755648"/>
            <a:ext cx="3602736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36992" y="1920240"/>
            <a:ext cx="3172968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36992" y="2048256"/>
            <a:ext cx="317296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42C4C"/>
                </a:solidFill>
                <a:latin typeface="Aptos"/>
              </a:rPr>
              <a:t>STAR-RATING DISTRIBUTION</a:t>
            </a:r>
          </a:p>
        </p:txBody>
      </p:sp>
      <p:pic>
        <p:nvPicPr>
          <p:cNvPr id="36" name="Picture 35" descr="fig03_star_rating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308" y="2340864"/>
            <a:ext cx="2593478" cy="15727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014215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23944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NEGATIVE REVIEW TERMS</a:t>
            </a:r>
          </a:p>
        </p:txBody>
      </p:sp>
      <p:pic>
        <p:nvPicPr>
          <p:cNvPr id="39" name="Picture 38" descr="cloud_negative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492" y="4425696"/>
            <a:ext cx="1884023" cy="121615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464808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74536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NEUTRAL REVIEW TERMS</a:t>
            </a:r>
          </a:p>
        </p:txBody>
      </p:sp>
      <p:pic>
        <p:nvPicPr>
          <p:cNvPr id="42" name="Picture 41" descr="cloud_neutral_cropp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084" y="4425696"/>
            <a:ext cx="1884023" cy="1216152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8915400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5128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POSITIVE REVIEW TERMS</a:t>
            </a:r>
          </a:p>
        </p:txBody>
      </p:sp>
      <p:pic>
        <p:nvPicPr>
          <p:cNvPr id="45" name="Picture 44" descr="cloud_positive_cropp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676" y="4425696"/>
            <a:ext cx="1884023" cy="12161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Word clouds show frequent terms, not proof of causation. One repeated review text was noted during cleaning; the dashboard reports zero exact duplicate rows.</a:t>
            </a:r>
          </a:p>
        </p:txBody>
      </p:sp>
    </p:spTree>
    <p:extLst>
      <p:ext uri="{BB962C8B-B14F-4D97-AF65-F5344CB8AC3E}">
        <p14:creationId xmlns:p14="http://schemas.microsoft.com/office/powerpoint/2010/main" val="101659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95DE6-B75D-221B-95C1-DC12BCFA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Results and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80238-2735-5AE5-6AF7-DD1C6FCF5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2A98E9-F369-C969-A743-1D2376D41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878-4431-878D-308B-27D0BC427601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46504"/>
            <a:ext cx="580644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88136" y="1901952"/>
            <a:ext cx="5376672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029968"/>
            <a:ext cx="537667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MODEL PERFORMANCE COMPARISON</a:t>
            </a:r>
          </a:p>
        </p:txBody>
      </p:sp>
      <p:pic>
        <p:nvPicPr>
          <p:cNvPr id="12" name="Picture 11" descr="model_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356039"/>
            <a:ext cx="5486400" cy="24202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49440" y="1746504"/>
            <a:ext cx="4379976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78040" y="1901952"/>
            <a:ext cx="3913632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2029968"/>
            <a:ext cx="391363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METRICS FROM TEST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2331720"/>
            <a:ext cx="1188720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423160"/>
            <a:ext cx="1152144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2" y="2331720"/>
            <a:ext cx="658368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23160"/>
            <a:ext cx="62179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Acc.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2331720"/>
            <a:ext cx="713232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2423160"/>
            <a:ext cx="67665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2331720"/>
            <a:ext cx="713232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2423160"/>
            <a:ext cx="67665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33304" y="2331720"/>
            <a:ext cx="731520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51592" y="2423160"/>
            <a:ext cx="694944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9752" y="2788920"/>
            <a:ext cx="11887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2612" y="2907791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Logistic Reg.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48472" y="2788920"/>
            <a:ext cx="658368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1332" y="2907791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82.44%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2788920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9700" y="2907791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0.7104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788920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2932" y="2907791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0.7375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33304" y="2788920"/>
            <a:ext cx="7315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56164" y="2907791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263445"/>
                </a:solidFill>
                <a:latin typeface="Aptos"/>
              </a:rPr>
              <a:t>0.7217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9752" y="3310127"/>
            <a:ext cx="1188720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82612" y="3428999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Linear SVM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48472" y="3310127"/>
            <a:ext cx="658368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71332" y="3428999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263445"/>
                </a:solidFill>
                <a:latin typeface="Aptos"/>
              </a:rPr>
              <a:t>83.97%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3310127"/>
            <a:ext cx="713232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9700" y="3428999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0.7137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20072" y="3310127"/>
            <a:ext cx="713232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42932" y="3428999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0.6919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33304" y="3310127"/>
            <a:ext cx="731520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6164" y="3428999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0.6991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59752" y="3831335"/>
            <a:ext cx="11887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82612" y="3950207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MultinomialNB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48472" y="3831335"/>
            <a:ext cx="658368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71332" y="3950207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75.40%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06840" y="3831335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9700" y="3950207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0.5577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20072" y="3831335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2932" y="3950207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0.4538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33304" y="3831335"/>
            <a:ext cx="7315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56164" y="3950207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0.4575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87184" y="4480560"/>
            <a:ext cx="3858768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 = precision  ·  R = recall  ·  F1 = harmonic mean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8680" y="5294376"/>
            <a:ext cx="10460736" cy="475488"/>
          </a:xfrm>
          <a:prstGeom prst="roundRect">
            <a:avLst>
              <a:gd name="adj" fmla="val 12000"/>
            </a:avLst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5367528"/>
            <a:ext cx="1010412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40" b="1" i="0">
                <a:solidFill>
                  <a:srgbClr val="FFFFFF"/>
                </a:solidFill>
                <a:latin typeface="Aptos"/>
              </a:rPr>
              <a:t>Highest accuracy: Linear SVM (83.97%)     |     Best macro F1: Logistic Regression (0.7217) — selected by macro F1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843016"/>
            <a:ext cx="1033272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1">
                <a:solidFill>
                  <a:srgbClr val="667586"/>
                </a:solidFill>
                <a:latin typeface="Aptos"/>
              </a:rPr>
              <a:t>Macro F1 is important here because positive reviews dominate the data; neutral-class errors are the clearest target for improvement.</a:t>
            </a:r>
          </a:p>
        </p:txBody>
      </p:sp>
    </p:spTree>
    <p:extLst>
      <p:ext uri="{BB962C8B-B14F-4D97-AF65-F5344CB8AC3E}">
        <p14:creationId xmlns:p14="http://schemas.microsoft.com/office/powerpoint/2010/main" val="3576682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B111E-3CD3-578C-C3F1-D5B314F98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Future Direction Towards Major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9C6AD-4E12-E613-16D6-CE1D1A461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51C9B-3E50-87A6-95B9-A2011929C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EB08EB-6AD8-99CF-B733-88813D8817A0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83080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83080"/>
            <a:ext cx="585216" cy="960120"/>
          </a:xfrm>
          <a:prstGeom prst="rect">
            <a:avLst/>
          </a:prstGeom>
          <a:solidFill>
            <a:srgbClr val="203F68"/>
          </a:solidFill>
          <a:ln w="10160">
            <a:solidFill>
              <a:srgbClr val="20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66543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883664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Improve neutral-class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176272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Audit labels; test class weighting and resampling; optimize using macro F1 and per-class recall.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953512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953512"/>
            <a:ext cx="585216" cy="960120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054096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Strengthen language understanding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3346704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Compare improved text features and, if justified, a compact transformer model against the classical baselines.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123944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4123944"/>
            <a:ext cx="585216" cy="960120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07407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224528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Validate beyond this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4517136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Use cross-validation and an external review set; examine performance by rating, category, and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422392"/>
            <a:ext cx="5001768" cy="329184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E8D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477256"/>
            <a:ext cx="475488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40" b="1" i="0">
                <a:solidFill>
                  <a:srgbClr val="765B1A"/>
                </a:solidFill>
                <a:latin typeface="Aptos"/>
              </a:rPr>
              <a:t>Priority: improve neutral recall before adding model complexity.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9904" y="1783080"/>
            <a:ext cx="5239512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938528"/>
            <a:ext cx="4791456" cy="73152"/>
          </a:xfrm>
          <a:prstGeom prst="rect">
            <a:avLst/>
          </a:prstGeom>
          <a:solidFill>
            <a:srgbClr val="C25757"/>
          </a:solidFill>
          <a:ln w="10160">
            <a:solidFill>
              <a:srgbClr val="C2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066544"/>
            <a:ext cx="47914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40" b="1" i="0">
                <a:solidFill>
                  <a:srgbClr val="142C4C"/>
                </a:solidFill>
                <a:latin typeface="Aptos"/>
              </a:rPr>
              <a:t>ERROR ANALYSIS — THE REASON FOR FUTURE WORK</a:t>
            </a:r>
          </a:p>
        </p:txBody>
      </p:sp>
      <p:pic>
        <p:nvPicPr>
          <p:cNvPr id="29" name="Picture 28" descr="classwise_f1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223297"/>
            <a:ext cx="4828032" cy="1643308"/>
          </a:xfrm>
          <a:prstGeom prst="rect">
            <a:avLst/>
          </a:prstGeom>
        </p:spPr>
      </p:pic>
      <p:pic>
        <p:nvPicPr>
          <p:cNvPr id="30" name="Picture 29" descr="confusion_matrices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159" y="3931920"/>
            <a:ext cx="4321856" cy="12801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55080" y="5257800"/>
            <a:ext cx="46908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Neutral examples are frequently confused: Logistic Regression correctly labels 181/359 (50.4%); Linear SVM labels 113/359 (31.5%); Naive Bayes predicts none as neutral.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Future work should be justified by the observed errors and evaluated on unseen data, not added only for a more complex interface.</a:t>
            </a:r>
          </a:p>
        </p:txBody>
      </p:sp>
    </p:spTree>
    <p:extLst>
      <p:ext uri="{BB962C8B-B14F-4D97-AF65-F5344CB8AC3E}">
        <p14:creationId xmlns:p14="http://schemas.microsoft.com/office/powerpoint/2010/main" val="803772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1EB0B-30AC-8AF7-788D-6DEA13161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C2BDB-F5D4-C088-74B2-AB49DBCE2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4551B3-BA4F-6389-E4F1-E21D19827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3CD0D-E440-E630-DB5D-367B38D3EAAC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73936"/>
            <a:ext cx="1024128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263445"/>
                </a:solidFill>
                <a:latin typeface="Aptos"/>
              </a:rPr>
              <a:t>We built a supervised NLP pipeline, compared three models on a held-out test set, and connected the selected model to an interactive Streamlit application.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" y="2487168"/>
            <a:ext cx="64008" cy="1078992"/>
          </a:xfrm>
          <a:prstGeom prst="rect">
            <a:avLst/>
          </a:prstGeom>
          <a:solidFill>
            <a:srgbClr val="6489B6"/>
          </a:solidFill>
          <a:ln w="10160"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83.97%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Highest accuracy · Linear SVM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487168"/>
            <a:ext cx="64008" cy="10789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0.7217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Highest macro F1 · Logistic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90688" y="2487168"/>
            <a:ext cx="64008" cy="107899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14,351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Reviews in the dataset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3794760"/>
            <a:ext cx="5010912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15568" y="3959352"/>
            <a:ext cx="4553712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087368"/>
            <a:ext cx="455371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C4C"/>
                </a:solidFill>
                <a:latin typeface="Aptos"/>
              </a:rPr>
              <a:t>WHAT THE RESULTS TELL US</a:t>
            </a:r>
          </a:p>
        </p:txBody>
      </p:sp>
      <p:sp>
        <p:nvSpPr>
          <p:cNvPr id="25" name="Oval 24"/>
          <p:cNvSpPr/>
          <p:nvPr/>
        </p:nvSpPr>
        <p:spPr>
          <a:xfrm>
            <a:off x="1133856" y="4416552"/>
            <a:ext cx="82296" cy="82296"/>
          </a:xfrm>
          <a:prstGeom prst="ellipse">
            <a:avLst/>
          </a:prstGeom>
          <a:solidFill>
            <a:srgbClr val="6489B6"/>
          </a:solidFill>
          <a:ln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6736" y="4370832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Linear SVM gets more predictions right overall.</a:t>
            </a:r>
          </a:p>
        </p:txBody>
      </p:sp>
      <p:sp>
        <p:nvSpPr>
          <p:cNvPr id="27" name="Oval 26"/>
          <p:cNvSpPr/>
          <p:nvPr/>
        </p:nvSpPr>
        <p:spPr>
          <a:xfrm>
            <a:off x="1133856" y="4809744"/>
            <a:ext cx="82296" cy="82296"/>
          </a:xfrm>
          <a:prstGeom prst="ellipse">
            <a:avLst/>
          </a:prstGeom>
          <a:solidFill>
            <a:srgbClr val="C6A34A"/>
          </a:solidFill>
          <a:ln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6736" y="4764024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Logistic Regression balances class performance better (highest macro F1), so it was selected.</a:t>
            </a:r>
          </a:p>
        </p:txBody>
      </p:sp>
      <p:sp>
        <p:nvSpPr>
          <p:cNvPr id="29" name="Oval 28"/>
          <p:cNvSpPr/>
          <p:nvPr/>
        </p:nvSpPr>
        <p:spPr>
          <a:xfrm>
            <a:off x="1133856" y="5202936"/>
            <a:ext cx="82296" cy="82296"/>
          </a:xfrm>
          <a:prstGeom prst="ellipse">
            <a:avLst/>
          </a:prstGeom>
          <a:solidFill>
            <a:srgbClr val="C25757"/>
          </a:solidFill>
          <a:ln>
            <a:solidFill>
              <a:srgbClr val="C2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157216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Neutral reviews remain difficult; the app supports triage, not replacing human judgement.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794760"/>
            <a:ext cx="5184648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4224" y="3959352"/>
            <a:ext cx="4727448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4087368"/>
            <a:ext cx="47274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C4C"/>
                </a:solidFill>
                <a:latin typeface="Aptos"/>
              </a:rPr>
              <a:t>THREE EXAMPLE OUTPUTS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361688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“Delicious food and excellent service.”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84664" y="4352544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ECF7F5"/>
          </a:solidFill>
          <a:ln w="10160">
            <a:solidFill>
              <a:srgbClr val="ECF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384548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D8C89"/>
                </a:solidFill>
                <a:latin typeface="Aptos"/>
              </a:rPr>
              <a:t>POSITIVE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754879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“Food was cold and delivery was late.”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84664" y="4745736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FBEFEC"/>
          </a:solidFill>
          <a:ln w="10160">
            <a:solidFill>
              <a:srgbClr val="FBE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21240" y="4777740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25757"/>
                </a:solidFill>
                <a:latin typeface="Aptos"/>
              </a:rPr>
              <a:t>NEGATIVE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5148072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“Average food; nothing special.”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84664" y="5138928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FB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5170932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6A34A"/>
                </a:solidFill>
                <a:latin typeface="Aptos"/>
              </a:rPr>
              <a:t>NEUTRAL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Project achievement: a tested comparative baseline plus a web demonstration. Major-project priority: strengthen neutral-class performance and validate on external data.</a:t>
            </a:r>
          </a:p>
        </p:txBody>
      </p:sp>
    </p:spTree>
    <p:extLst>
      <p:ext uri="{BB962C8B-B14F-4D97-AF65-F5344CB8AC3E}">
        <p14:creationId xmlns:p14="http://schemas.microsoft.com/office/powerpoint/2010/main" val="269757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552C0-48AB-6B2E-F05D-4CD4999DE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F2315-DF31-8F90-F6FC-DE3B766FA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A18D5-9B32-E719-3448-236E39447C4B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59FC1-C349-B2D5-B810-0DE4A8F7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10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700784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[1] Pang, B., Lee, L., &amp; Vaithyanathan, S. (2002).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“Thumbs up? Sentiment classification using machine learning techniques.” EMNLP, pp. 79–86.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2"/>
              </a:rPr>
              <a:t>https://www.cs.cornell.edu/home/llee/papers/sentiment.home.html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23160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[2] Liu, B. (2012).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24328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Sentiment Analysis and Opinion Mining. Morgan &amp; Claypool Publishers.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798063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3"/>
              </a:rPr>
              <a:t>https://doi.org/10.2200/S00416ED1V01Y201204HLT016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35808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090672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[3] Pedregosa, F. et al. (2011).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291840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“Scikit-learn: Machine Learning in Python.” Journal of Machine Learning Research, 12, 2825–2830.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65576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4"/>
              </a:rPr>
              <a:t>https://www.jmlr.org/papers/v12/pedregosa11a.html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758183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[4] Saravanarajan, G. (2026).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59352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Yelp Restaurant Reviews Sentiment Dataset. Zenodo.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133087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5"/>
              </a:rPr>
              <a:t>https://doi.org/10.5281/zenodo.18723813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370832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425696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[5] Scikit-learn Developers.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626864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Scikit-learn documentation.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800600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6"/>
              </a:rPr>
              <a:t>https://scikit-learn.org/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5093207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[6] Python Software Foundation.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294376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Python 3 documentation.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468112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7"/>
              </a:rPr>
              <a:t>https://docs.python.org/3/</a:t>
            </a:r>
          </a:p>
        </p:txBody>
      </p:sp>
    </p:spTree>
    <p:extLst>
      <p:ext uri="{BB962C8B-B14F-4D97-AF65-F5344CB8AC3E}">
        <p14:creationId xmlns:p14="http://schemas.microsoft.com/office/powerpoint/2010/main" val="319419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197</Words>
  <Application>Microsoft Office PowerPoint</Application>
  <PresentationFormat>Widescreen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Project Title</vt:lpstr>
      <vt:lpstr>Table of Contents</vt:lpstr>
      <vt:lpstr>Problem Statement / Motivation</vt:lpstr>
      <vt:lpstr>Literature Survey/Review</vt:lpstr>
      <vt:lpstr>Proposed Methodology</vt:lpstr>
      <vt:lpstr>Experimental Set-up</vt:lpstr>
      <vt:lpstr>Results and Discussion</vt:lpstr>
      <vt:lpstr>Future Direction Towards Major Project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Analysis of Machine Learning Algorithms for Sentiment Classification of Online Food Reviews</dc:title>
  <dc:creator>Amity University Kolkata - B.Tech CSE project team</dc:creator>
  <cp:lastModifiedBy>Mukund Mitra</cp:lastModifiedBy>
  <cp:revision>3</cp:revision>
  <dcterms:created xsi:type="dcterms:W3CDTF">2025-12-02T15:12:09Z</dcterms:created>
  <dcterms:modified xsi:type="dcterms:W3CDTF">2025-12-02T15:41:33Z</dcterms:modified>
  <dc:subject>Minor Project Presentation (ETMN100)</dc:subject>
  <cp:keywords>sentiment analysis, food reviews, machine learning, Logistic Regression, Linear SVM, Multinomial Naive Bayes</cp:keywords>
</cp:coreProperties>
</file>