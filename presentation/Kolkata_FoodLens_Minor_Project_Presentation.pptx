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5D34B-6A74-4F5F-A7AA-B7BFF6029E4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058D1-D89A-4F76-AA50-3B6B012F4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447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CAD89-7674-B419-83EB-D938C128F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ED517-4F65-D4CF-4AAD-B0D2498D3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56110-172E-C177-39DD-28C576F4D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719A-5EF8-4F83-85EC-4F6541D52163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EA943-9152-F5CA-CA22-6BAF12A54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DF5BB-2C63-ECFE-9952-90F3AFE70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18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B4E3-18CF-1C22-8296-7E8B599A4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B3F81-DC90-D346-15A5-DF3733929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F2DAE-297C-0FF0-534F-A48B9BC6B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2472-FA8B-4833-B6A0-890DB103BE63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1E6F0-FD55-3C88-C0CD-1C0FE1053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8C60A-616D-9132-C641-FC22E76FA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61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83202-BCEB-ADA9-C5E3-9BB3C08C4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CC1D5-C991-9092-4A1E-B644B7B32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9F764-357E-B1BA-A764-7281A8F5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E6267-E976-4C89-BB50-9BC63D5772E5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027EA-4A9C-DAC1-8BAB-96594B4C9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009DC-3A49-EF23-793B-152B32E93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41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99481-6380-DD62-40FD-261955BE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AC4BC-1E86-2F8C-1958-51C528E72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2E768-EB3E-9988-A28E-7F42A408C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B71BA-CB4A-439B-8E85-E8B156EC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F62AF-9174-4EDE-A9CC-A6326F849C94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D331A-45D1-DACC-6FF0-AC1110E8A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22270-7F76-368A-6CC5-149F542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6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33CAE-DA2D-B528-595A-CEE0EEB69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E63B4-4849-44D0-3108-9C0314454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2B3D6-B512-6E63-B37E-E0F0193DC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4DD9C1-7481-1A8E-9455-9CE9327B7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576ED0-4791-0534-0F70-5FD4290C3F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920DC6-34F8-21DE-B9B2-B3DC656A9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6FA9-C39D-438D-BF8C-12CB551E68C8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C93EBA-7FA8-F91E-091E-A611FCAF6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A9C278-87A4-D0BC-9E1F-9792D393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77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256F5-2D1B-B7F7-BE3D-E29B4E0A3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188CA9-49DE-5A37-DCB3-A0DE8B49D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5F3A-A756-49F9-ACA8-8C11F302AB31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EA7AB-4822-2ACF-026C-7E1F3DB83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51BA3-727A-CE6F-5443-0F5BDA3D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01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A5D874-7DAE-3741-3EAB-8955633BB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A7A6-B9A4-4329-B2B1-0D2380DFEB2F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4650D5-D42C-0267-BAA1-998AAEC82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C92B6-D407-6A0D-C3E1-E234A98D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3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AB1A8-2E39-CA26-14E9-F50D6035F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34686-AA78-36BD-BF72-FB22BBEBA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5BF8C-B09F-C6F8-715A-3B4393FC2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AC43F-FC76-A870-2C96-33829E3D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45481-F598-4B14-8F25-AE282E31C23A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5C253-19FA-89A6-28DF-8E8D02F96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68DB0-2CB4-FEF6-40C4-7290B4CF9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12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79686-88A0-60EF-7606-BEE203A2B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23106B-9569-9D80-2CBD-815DEAABA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B1CE5-32C6-2892-4BEE-5348AF162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4C33F-551F-9D40-706A-A73A4FC36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7314-6D7F-4637-998B-462D7BB1EADD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609ED-85B4-B47E-0F35-75CB6C3D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70264-CED7-FB09-B196-B9EFCC4E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167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2B884-2675-9CE5-273F-41570AA33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F2B50-C261-8FD6-7E17-A585A8564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4323C-6A56-10D1-D6E2-0A16F473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A6AF-53B1-422C-90C6-29AC98E9BEE9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01007-C701-2FDF-3D49-9AA6C483A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F5990-9A78-2F95-6820-53D9FBE8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884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6FB077-D409-30BC-21BA-30BFC1D6D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11CE5-88A4-56AB-3B76-921862EFA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C3A12-B6DC-CFE0-694D-7E035BD3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ADAF-AAD2-4E68-96EC-7091DCB0EC15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A2D0F-720F-C0CE-4EBB-BFF826C04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52736-B78E-01AE-A129-615AC6BBB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653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00DA42-3588-2FD8-F10E-FCCA0A993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F0FDC-FCFF-ABD2-758E-9E95819AA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103DA-5986-C425-5852-A96DFA749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38BC1-E688-4095-BF09-ADA04B0FF211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E935-7E6D-0A58-8AFD-57D013A37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EA50D-3703-93BB-7C69-2168E98B5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09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C5AF1-5CA1-CCB8-DA4C-72C805FBB2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Kolkata FoodLens: Restaurant Intelligence &amp; Municipal Food Safety Surveillance</a:t>
            </a:r>
          </a:p>
          <a:p>
            <a:pPr algn="l">
              <a:spcBef>
                <a:spcPts val="600"/>
              </a:spcBef>
              <a:defRPr sz="1500" i="1">
                <a:solidFill>
                  <a:srgbClr val="0F766E"/>
                </a:solidFill>
                <a:latin typeface="Calibri"/>
              </a:defRPr>
            </a:pPr>
            <a:r>
              <a:t>Aspect-Based Sentiment Analysis &amp; Multi-Criteria Decision Framework for Dining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0CC79-3309-FCB2-1A8C-33FE58A0E9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b="1" sz="1300">
                <a:solidFill>
                  <a:srgbClr val="0F172A"/>
                </a:solidFill>
              </a:rPr>
              <a:t>Author: </a:t>
            </a:r>
            <a:r>
              <a:rPr sz="1300">
                <a:solidFill>
                  <a:srgbClr val="334155"/>
                </a:solidFill>
              </a:rPr>
              <a:t>Tanim Naha (7th Semester, B.Tech CSE)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0F172A"/>
                </a:solidFill>
              </a:rPr>
              <a:t>Course: </a:t>
            </a:r>
            <a:r>
              <a:rPr sz="1200">
                <a:solidFill>
                  <a:srgbClr val="334155"/>
                </a:solidFill>
              </a:rPr>
              <a:t>Minor Project (Course Code: ETMN100) — Batch 2022–2026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0F172A"/>
                </a:solidFill>
              </a:rPr>
              <a:t>Department: </a:t>
            </a:r>
            <a:r>
              <a:rPr sz="1200">
                <a:solidFill>
                  <a:srgbClr val="334155"/>
                </a:solidFill>
              </a:rPr>
              <a:t>Amity School of Engineering &amp; Technology (ASET)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0F172A"/>
                </a:solidFill>
              </a:rPr>
              <a:t>Institution: </a:t>
            </a:r>
            <a:r>
              <a:rPr sz="1200">
                <a:solidFill>
                  <a:srgbClr val="334155"/>
                </a:solidFill>
              </a:rPr>
              <a:t>Amity University, Kolkata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0F172A"/>
                </a:solidFill>
              </a:rPr>
              <a:t>Supervision: </a:t>
            </a:r>
            <a:r>
              <a:rPr sz="1200">
                <a:solidFill>
                  <a:srgbClr val="334155"/>
                </a:solidFill>
              </a:rPr>
              <a:t>Department of Computer Science &amp; Engineering, Faculty Guide</a:t>
            </a:r>
          </a:p>
        </p:txBody>
      </p:sp>
      <p:pic>
        <p:nvPicPr>
          <p:cNvPr id="1026" name="Picture 2" descr="Amity University, Kolkata - Wikipedia">
            <a:extLst>
              <a:ext uri="{FF2B5EF4-FFF2-40B4-BE49-F238E27FC236}">
                <a16:creationId xmlns:a16="http://schemas.microsoft.com/office/drawing/2014/main" id="{57FB8B2A-1E6B-436B-8756-7D4035409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305" y="33329"/>
            <a:ext cx="2506578" cy="87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189B8-E209-A8D9-D4B4-78134436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29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4;p14">
            <a:extLst>
              <a:ext uri="{FF2B5EF4-FFF2-40B4-BE49-F238E27FC236}">
                <a16:creationId xmlns:a16="http://schemas.microsoft.com/office/drawing/2014/main" id="{FDDF984B-7AA8-0BFA-65E5-C41C57935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975" y="389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F172A"/>
                </a:solidFill>
                <a:latin typeface="Calibri"/>
              </a:defRPr>
            </a:pPr>
            <a:r>
              <a:t>Table of Contents</a:t>
            </a:r>
            <a:endParaRPr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66879-43E2-08F3-3FB0-929A1CF5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B41593-6156-CAB9-915A-2B4474826293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t>PART I: PROBLEM DEFINITION &amp; METHODOLOGY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1. Problem Statement / Motivation: </a:t>
            </a:r>
            <a:r>
              <a:rPr sz="1100">
                <a:solidFill>
                  <a:srgbClr val="334155"/>
                </a:solidFill>
                <a:latin typeface="Calibri"/>
              </a:rPr>
              <a:t>Consumer dining information asymmetry, Kolkata municipal food safety drives, and multi-aspect review contradictions.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2. Literature Survey / Review: </a:t>
            </a:r>
            <a:r>
              <a:rPr sz="1100">
                <a:solidFill>
                  <a:srgbClr val="334155"/>
                </a:solidFill>
                <a:latin typeface="Calibri"/>
              </a:rPr>
              <a:t>Comparative synthesis of document sentiment, SemEval ABSA benchmarks, and CDC syndromic food safety surveillance.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3. Proposed Methodology: </a:t>
            </a:r>
            <a:r>
              <a:rPr sz="1100">
                <a:solidFill>
                  <a:srgbClr val="334155"/>
                </a:solidFill>
                <a:latin typeface="Calibri"/>
              </a:rPr>
              <a:t>End-to-end 4-stage pipeline: Dual corpora ingestion, text discourse clause segmentation, ABSA, and composite ranking.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4. Experimental Set-up: </a:t>
            </a:r>
            <a:r>
              <a:rPr sz="1100">
                <a:solidFill>
                  <a:srgbClr val="334155"/>
                </a:solidFill>
                <a:latin typeface="Calibri"/>
              </a:rPr>
              <a:t>13,144 Yelp review corpus, stratified 80/10/10 partitioning, class-weight balancing, and evaluation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PART II: EMPIRICAL FINDINGS &amp; FUTURE ROADMAP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5. Results and Discussion: </a:t>
            </a:r>
            <a:r>
              <a:rPr sz="1100">
                <a:solidFill>
                  <a:srgbClr val="334155"/>
                </a:solidFill>
                <a:latin typeface="Calibri"/>
              </a:rPr>
              <a:t>Benchmarking 4 architectures, Macro-F1 analysis, minority negative recall, and customer sentiment vs safety divergence.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6. Future Direction Towards Major Project: </a:t>
            </a:r>
            <a:r>
              <a:rPr sz="1100">
                <a:solidFill>
                  <a:srgbClr val="334155"/>
                </a:solidFill>
                <a:latin typeface="Calibri"/>
              </a:rPr>
              <a:t>Integration with live KMC inspection portals, code-mixed Bengali NLP (Banglish), and Explainable AI (XAI).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7. Conclusion: </a:t>
            </a:r>
            <a:r>
              <a:rPr sz="1100">
                <a:solidFill>
                  <a:srgbClr val="334155"/>
                </a:solidFill>
                <a:latin typeface="Calibri"/>
              </a:rPr>
              <a:t>Summary of project milestones: Civic-consumer intelligence fusion, ethical zero-fabrication auditing, and live web deployment.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8. References: </a:t>
            </a:r>
            <a:r>
              <a:rPr sz="1100">
                <a:solidFill>
                  <a:srgbClr val="334155"/>
                </a:solidFill>
                <a:latin typeface="Calibri"/>
              </a:rPr>
              <a:t>Peer-reviewed literature, IEEE/ACM proceedings, SemEval task reports, and FSSAI statutory regulations.</a:t>
            </a:r>
          </a:p>
        </p:txBody>
      </p:sp>
    </p:spTree>
    <p:extLst>
      <p:ext uri="{BB962C8B-B14F-4D97-AF65-F5344CB8AC3E}">
        <p14:creationId xmlns:p14="http://schemas.microsoft.com/office/powerpoint/2010/main" val="989944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0164-4195-C70A-506A-3FF6F9A0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Problem Statement / Motivation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69564-61EB-8D98-A76E-C04A1A3BE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5BE3A6-698E-5EFC-CFCE-04CA17E4C8A2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1. Dining Information Asymmetry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Rating Inflation: </a:t>
            </a:r>
            <a:r>
              <a:rPr sz="1100">
                <a:solidFill>
                  <a:srgbClr val="334155"/>
                </a:solidFill>
                <a:latin typeface="Calibri"/>
              </a:rPr>
              <a:t>Popular dining apps (Zomato/Google) show heavily skewed 4.2★+ ratings driven almost exclusively by taste and decor.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Masked Hazards: </a:t>
            </a:r>
            <a:r>
              <a:rPr sz="1100">
                <a:solidFill>
                  <a:srgbClr val="334155"/>
                </a:solidFill>
                <a:latin typeface="Calibri"/>
              </a:rPr>
              <a:t>A 5-star biryani or dessert often conceals critical back-kitchen hygiene lapses and pest contamination.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Consumer Blindspot: </a:t>
            </a:r>
            <a:r>
              <a:rPr sz="1100">
                <a:solidFill>
                  <a:srgbClr val="334155"/>
                </a:solidFill>
                <a:latin typeface="Calibri"/>
              </a:rPr>
              <a:t>Diners lack any consolidated mechanism to evaluate true hygiene compliance prior to placing an order or dining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t>2. Kolkata Public Health Context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Civic Crackdowns: </a:t>
            </a:r>
            <a:r>
              <a:rPr sz="1100">
                <a:solidFill>
                  <a:srgbClr val="334155"/>
                </a:solidFill>
                <a:latin typeface="Calibri"/>
              </a:rPr>
              <a:t>Kolkata Municipal Corporation (KMC) &amp; West Bengal Health Dept frequently conduct intensive food safety raids.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Unlinked Records: </a:t>
            </a:r>
            <a:r>
              <a:rPr sz="1100">
                <a:solidFill>
                  <a:srgbClr val="334155"/>
                </a:solidFill>
                <a:latin typeface="Calibri"/>
              </a:rPr>
              <a:t>Official FSSAI audit outcomes and hygiene violation records remain buried in bureaucratic filing systems.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Surveillance Lag: </a:t>
            </a:r>
            <a:r>
              <a:rPr sz="1100">
                <a:solidFill>
                  <a:srgbClr val="334155"/>
                </a:solidFill>
                <a:latin typeface="Calibri"/>
              </a:rPr>
              <a:t>Traditional civic inspection models are entirely reactive, lacking computational early-warning NLP signals from citizen reviews.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3. Technical NLP Research Gap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Coarse Sentiment Failure: </a:t>
            </a:r>
            <a:r>
              <a:rPr sz="1100">
                <a:solidFill>
                  <a:srgbClr val="334155"/>
                </a:solidFill>
                <a:latin typeface="Calibri"/>
              </a:rPr>
              <a:t>Document-level sentiment classifiers assign a single positive/negative label, collapsing on mixed reviews.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Contradiction Dilemma: </a:t>
            </a:r>
            <a:r>
              <a:rPr sz="1100">
                <a:solidFill>
                  <a:srgbClr val="334155"/>
                </a:solidFill>
                <a:latin typeface="Calibri"/>
              </a:rPr>
              <a:t>'The mutton chaap was exquisite, but the tables were filthy and the waiter was rude' requires multi-aspect extraction.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Objective Need: </a:t>
            </a:r>
            <a:r>
              <a:rPr sz="1100">
                <a:solidFill>
                  <a:srgbClr val="334155"/>
                </a:solidFill>
                <a:latin typeface="Calibri"/>
              </a:rPr>
              <a:t>A production pipeline that decouples taste sentiment from hygiene audits and enforces zero-fabrication of safety scores.</a:t>
            </a:r>
          </a:p>
        </p:txBody>
      </p:sp>
    </p:spTree>
    <p:extLst>
      <p:ext uri="{BB962C8B-B14F-4D97-AF65-F5344CB8AC3E}">
        <p14:creationId xmlns:p14="http://schemas.microsoft.com/office/powerpoint/2010/main" val="3944405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A7619-AFD2-78E0-2B35-3BB67543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Literature Survey /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851D8-FF76-DE9A-E99D-F699F110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12DA5-1255-9D13-E976-270DFECAF4AB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1248" y="164592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20240"/>
                <a:gridCol w="2103120"/>
                <a:gridCol w="2103120"/>
                <a:gridCol w="2377440"/>
              </a:tblGrid>
              <a:tr h="804672"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/ Benchmark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 &amp; Domain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Strength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 / Research Gap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Advancement in Kolkata FoodLens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804672"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Pang &amp; Lee (2008)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Document-level Polarity (Naive Bayes, SVM)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Established baseline opinion mining paradigms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Single document score; fails on mixed sentiment reviews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Clause-level discourse segmentation isolating contrastive sentiments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804672"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Pontiki et al. (SemEval 2014/16)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Aspect-Based Sentiment (CRF, Dependency Trees)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Defined fine-grained entity &amp; attribute aspect benchmarking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Academic benchmark on isolated sentences; no production deployment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Integrated 5-aspect ABSA into live consumer web app with real inference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Sancheti et al. (CDC/Harvard 2019)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Syndromic Health Surveillance in Reviews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Computational detection of foodborne illness triggers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Designed strictly for health inspectors; no consumer recommendation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Unified consumer experience scores with civic inspection audits in one view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804672"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Devlin et al. / Sanh et al. (2019)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Deep Pre-trained Transformers (BERT/DistilBERT)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State-of-the-art semantic sentence contextualization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High memory/compute latency; struggles on minority negative classes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95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Empirical benchmarking proving Balanced LogReg superior on minority F1 &amp; speed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0717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7CF9D-B187-A7B2-4ED1-D675E9F0E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Proposed Methodology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401992-37CB-3042-3274-E1A5F3DD0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FA4F3C-896F-5EB0-D639-6421E214A03A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645920"/>
            <a:ext cx="5120640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Stage 1: Multi-Source Data Acquisition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Kolkata Restaurant Directory: </a:t>
            </a:r>
            <a:r>
              <a:rPr sz="1100">
                <a:solidFill>
                  <a:srgbClr val="334155"/>
                </a:solidFill>
                <a:latin typeface="Calibri"/>
              </a:rPr>
              <a:t>100 real Zomato-listed establishments spanning 11 Kolkata zones, cuisines, and price tiers.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Dual Training &amp; Review Corpora: </a:t>
            </a:r>
            <a:r>
              <a:rPr sz="1100">
                <a:solidFill>
                  <a:srgbClr val="334155"/>
                </a:solidFill>
                <a:latin typeface="Calibri"/>
              </a:rPr>
              <a:t>13,144 real Yelp reviews for supervised modeling + 5,000 synthetic Kolkata consumer reviews.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Civic Health Audit Records: </a:t>
            </a:r>
            <a:r>
              <a:rPr sz="1100">
                <a:solidFill>
                  <a:srgbClr val="334155"/>
                </a:solidFill>
                <a:latin typeface="Calibri"/>
              </a:rPr>
              <a:t>107 inspection records matching official FSSAI violation categories and outcome codes.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45920"/>
            <a:ext cx="5120640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t>Stage 2: Discourse Preprocessing &amp; Splitting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Text Normalization: </a:t>
            </a:r>
            <a:r>
              <a:rPr sz="1100">
                <a:solidFill>
                  <a:srgbClr val="334155"/>
                </a:solidFill>
                <a:latin typeface="Calibri"/>
              </a:rPr>
              <a:t>Contraction expansion ('didn't' -&gt; 'did not'), lowercase conversion, emoji retention for sentiment nuance.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Discourse Clause Splitting: </a:t>
            </a:r>
            <a:r>
              <a:rPr sz="1100">
                <a:solidFill>
                  <a:srgbClr val="334155"/>
                </a:solidFill>
                <a:latin typeface="Calibri"/>
              </a:rPr>
              <a:t>Segmenting review text around contrastive conjunctions ('but', 'however', 'although', 'whereas').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Feature Extraction: </a:t>
            </a:r>
            <a:r>
              <a:rPr sz="1100">
                <a:solidFill>
                  <a:srgbClr val="334155"/>
                </a:solidFill>
                <a:latin typeface="Calibri"/>
              </a:rPr>
              <a:t>Unigram + bigram TF-IDF vectorization (sublinear TF scaling, max 10,000 features, min_df=2).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931920"/>
            <a:ext cx="5120640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Stage 3: Multi-Task Inference &amp; Health Alerts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Overall Sentiment Classifier: </a:t>
            </a:r>
            <a:r>
              <a:rPr sz="1100">
                <a:solidFill>
                  <a:srgbClr val="334155"/>
                </a:solidFill>
                <a:latin typeface="Calibri"/>
              </a:rPr>
              <a:t>Balanced Logistic Regression predicting Positive, Neutral, or Negative polarity.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5-Aspect ABSA Engine: </a:t>
            </a:r>
            <a:r>
              <a:rPr sz="1100">
                <a:solidFill>
                  <a:srgbClr val="334155"/>
                </a:solidFill>
                <a:latin typeface="Calibri"/>
              </a:rPr>
              <a:t>Clause-level multi-label tagging across: Food, Service, Hygiene, Ambience, and Price.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Public Health Surveillance: </a:t>
            </a:r>
            <a:r>
              <a:rPr sz="1100">
                <a:solidFill>
                  <a:srgbClr val="334155"/>
                </a:solidFill>
                <a:latin typeface="Calibri"/>
              </a:rPr>
              <a:t>Rule-based regex engine scanning for Biological Hazards (vomiting, Salmonella) &amp; Pests (cockroach, rat).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3931920"/>
            <a:ext cx="5120640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Stage 4: Multi-Criteria Ranking &amp; Web Deployment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Composite Score Blend: </a:t>
            </a:r>
            <a:r>
              <a:rPr sz="1100">
                <a:solidFill>
                  <a:srgbClr val="334155"/>
                </a:solidFill>
                <a:latin typeface="Calibri"/>
              </a:rPr>
              <a:t>Rank = 50% Sentiment Score + 25% Zomato Rating + 15% Verified Safety + 10% Occasion Tags.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Zero-Fabrication Principle: </a:t>
            </a:r>
            <a:r>
              <a:rPr sz="1100">
                <a:solidFill>
                  <a:srgbClr val="334155"/>
                </a:solidFill>
                <a:latin typeface="Calibri"/>
              </a:rPr>
              <a:t>If no inspection audit exists, display 'Safety data unavailable' — never fabricate a safety score.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Full-Stack Web App: </a:t>
            </a:r>
            <a:r>
              <a:rPr sz="1100">
                <a:solidFill>
                  <a:srgbClr val="334155"/>
                </a:solidFill>
                <a:latin typeface="Calibri"/>
              </a:rPr>
              <a:t>Streamlit Cloud dashboard, SQLite database for user reviews, Plotly aspect radar charts, batch CSV processing.</a:t>
            </a:r>
          </a:p>
        </p:txBody>
      </p:sp>
    </p:spTree>
    <p:extLst>
      <p:ext uri="{BB962C8B-B14F-4D97-AF65-F5344CB8AC3E}">
        <p14:creationId xmlns:p14="http://schemas.microsoft.com/office/powerpoint/2010/main" val="1187919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10E5B-E60D-2B4A-984F-799579A39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Experimental Set-up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70228-3EA3-C23F-7DA3-00BABD32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A8B3E0-B704-ADA4-F700-F11295D7230F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t>Data Partitioning &amp; Class Imbalance Strategy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Training Benchmark Corpus: </a:t>
            </a:r>
            <a:r>
              <a:rPr sz="1100">
                <a:solidFill>
                  <a:srgbClr val="334155"/>
                </a:solidFill>
                <a:latin typeface="Calibri"/>
              </a:rPr>
              <a:t>13,144 real English restaurant reviews from Yelp Open Dataset mapped to 3 sentiment classes.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Strict 80 / 10 / 10 Split: </a:t>
            </a:r>
            <a:r>
              <a:rPr sz="1100">
                <a:solidFill>
                  <a:srgbClr val="334155"/>
                </a:solidFill>
                <a:latin typeface="Calibri"/>
              </a:rPr>
              <a:t>Train: 10,515 reviews (80%) | Validation: 1,314 reviews (10%) | Test: 1,315 reviews (10%).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Stratified Sampling (Seed 42): </a:t>
            </a:r>
            <a:r>
              <a:rPr sz="1100">
                <a:solidFill>
                  <a:srgbClr val="334155"/>
                </a:solidFill>
                <a:latin typeface="Calibri"/>
              </a:rPr>
              <a:t>Exact class ratio preserved across splits; the test set was locked until final benchmark evaluation.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Severe Class Imbalance: </a:t>
            </a:r>
            <a:r>
              <a:rPr sz="1100">
                <a:solidFill>
                  <a:srgbClr val="334155"/>
                </a:solidFill>
                <a:latin typeface="Calibri"/>
              </a:rPr>
              <a:t>Review distribution: 66.2% Positive, 25.8% Neutral, 8.0% Negative.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Imbalance Mitigation: </a:t>
            </a:r>
            <a:r>
              <a:rPr sz="1100">
                <a:solidFill>
                  <a:srgbClr val="334155"/>
                </a:solidFill>
                <a:latin typeface="Calibri"/>
              </a:rPr>
              <a:t>Applied inverse class weighting (class_weight='balanced') and weighted cross-entropy to prevent majority-class bias.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ABSA Validation Set: </a:t>
            </a:r>
            <a:r>
              <a:rPr sz="1100">
                <a:solidFill>
                  <a:srgbClr val="334155"/>
                </a:solidFill>
                <a:latin typeface="Calibri"/>
              </a:rPr>
              <a:t>Validated aspect tagging on 86 annotated SemEval restaurant benchmark samples.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Software Stack, Hardware &amp; Evaluation Metrics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Development Environment: </a:t>
            </a:r>
            <a:r>
              <a:rPr sz="1100">
                <a:solidFill>
                  <a:srgbClr val="334155"/>
                </a:solidFill>
                <a:latin typeface="Calibri"/>
              </a:rPr>
              <a:t>Python 3.12 within isolated virtual environment; pinned requirements for strict reproducibility.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NLP &amp; Machine Learning: </a:t>
            </a:r>
            <a:r>
              <a:rPr sz="1100">
                <a:solidFill>
                  <a:srgbClr val="334155"/>
                </a:solidFill>
                <a:latin typeface="Calibri"/>
              </a:rPr>
              <a:t>Scikit-Learn 1.4, PyTorch 2.2, Hugging Face Transformers, Joblib serialization.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Persistence &amp; Database: </a:t>
            </a:r>
            <a:r>
              <a:rPr sz="1100">
                <a:solidFill>
                  <a:srgbClr val="334155"/>
                </a:solidFill>
                <a:latin typeface="Calibri"/>
              </a:rPr>
              <a:t>SQLite relational store (data/user_reviews.db) logging live consumer reviews and recalculating scores.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Interactive Web Interface: </a:t>
            </a:r>
            <a:r>
              <a:rPr sz="1100">
                <a:solidFill>
                  <a:srgbClr val="334155"/>
                </a:solidFill>
                <a:latin typeface="Calibri"/>
              </a:rPr>
              <a:t>Streamlit 1.66 framework with native DOM injection (st.html) and Plotly interactive data visualizations.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Primary Evaluation Metric: </a:t>
            </a:r>
            <a:r>
              <a:rPr sz="1100">
                <a:solidFill>
                  <a:srgbClr val="334155"/>
                </a:solidFill>
                <a:latin typeface="Calibri"/>
              </a:rPr>
              <a:t>Macro-Averaged F1-Score: Treating minority negative reviews with equal weight to majority positive reviews.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Operational Metrics: </a:t>
            </a:r>
            <a:r>
              <a:rPr sz="1100">
                <a:solidFill>
                  <a:srgbClr val="334155"/>
                </a:solidFill>
                <a:latin typeface="Calibri"/>
              </a:rPr>
              <a:t>Accuracy, per-class Precision/Recall, Confusion Matrix, and Single-review Inference Latency (ms).</a:t>
            </a:r>
          </a:p>
        </p:txBody>
      </p:sp>
    </p:spTree>
    <p:extLst>
      <p:ext uri="{BB962C8B-B14F-4D97-AF65-F5344CB8AC3E}">
        <p14:creationId xmlns:p14="http://schemas.microsoft.com/office/powerpoint/2010/main" val="101659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95DE6-B75D-221B-95C1-DC12BCFA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Results and Discussion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2A98E9-F369-C969-A743-1D2376D41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FC3878-4431-878D-308B-27D0BC427601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1248" y="164592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188720"/>
                <a:gridCol w="1280160"/>
                <a:gridCol w="1280160"/>
                <a:gridCol w="1280160"/>
                <a:gridCol w="1280160"/>
                <a:gridCol w="1737360"/>
              </a:tblGrid>
              <a:tr h="475488"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Architecture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Macro-F1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 F1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Neu F1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Neg F1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 / Status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TF-IDF + Balanced LogReg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68.21%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0.6537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0.8124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0.6409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0.5079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Selected Winner (Best F1 &amp; Speed)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TF-IDF + Linear SVM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67.45%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0.6481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0.8091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0.6441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0.4912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Strong Classical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Fine-tuned DistilBERT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71.02%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0.6310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0.8415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0.6095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0.4420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High Accuracy, Lower Minority F1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Word2Vec/GloVe + MLP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62.18%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0.5892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0.7640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0.6221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0.3814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Sub-optimal on Sparse Neutral/Neg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1248" y="4206240"/>
            <a:ext cx="512064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Key Finding 1: Why Balanced LogReg Won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Minority Class Superiority: </a:t>
            </a:r>
            <a:r>
              <a:rPr sz="1100">
                <a:solidFill>
                  <a:srgbClr val="334155"/>
                </a:solidFill>
                <a:latin typeface="Calibri"/>
              </a:rPr>
              <a:t>Balanced LogReg achieved the highest Negative-class F1 (0.5079 vs DistilBERT's 0.4420). In health surveillance, missing a negative illness review is far more costly than a false positive.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Ultra-Low Latency: </a:t>
            </a:r>
            <a:r>
              <a:rPr sz="1100">
                <a:solidFill>
                  <a:srgbClr val="334155"/>
                </a:solidFill>
                <a:latin typeface="Calibri"/>
              </a:rPr>
              <a:t>Inference executed in 0.8 ms per review (vs 42.5 ms for DistilBERT), enabling instantaneous processing in web applications.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4206240"/>
            <a:ext cx="512064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Key Finding 2: Sentiment vs Safety Divergence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Statistical Disconnect: </a:t>
            </a:r>
            <a:r>
              <a:rPr sz="1100">
                <a:solidFill>
                  <a:srgbClr val="334155"/>
                </a:solidFill>
                <a:latin typeface="Calibri"/>
              </a:rPr>
              <a:t>Correlation between Customer Sentiment and Municipal Safety Score was only r = 0.08 across 100 Kolkata listings.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Empirical Confirmation: </a:t>
            </a:r>
            <a:r>
              <a:rPr sz="1100">
                <a:solidFill>
                  <a:srgbClr val="334155"/>
                </a:solidFill>
                <a:latin typeface="Calibri"/>
              </a:rPr>
              <a:t>Proves that customer reviews primarily capture taste and ambiance, empirically justifying the requirement for independent civic food safety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576682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B111E-3CD3-578C-C3F1-D5B314F9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Future Direction Towards Major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51C9B-3E50-87A6-95B9-A2011929C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B08EB-6AD8-99CF-B733-88813D8817A0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645920"/>
            <a:ext cx="5120640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1. Live Civic API Integration &amp; Ingestion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KMC Portal Connector: </a:t>
            </a:r>
            <a:r>
              <a:rPr sz="1100">
                <a:solidFill>
                  <a:srgbClr val="334155"/>
                </a:solidFill>
                <a:latin typeface="Calibri"/>
              </a:rPr>
              <a:t>Build automated scrapers and API connectors directly with the Kolkata Municipal Corporation Health Dept.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FSSAI FoSCoS Feed: </a:t>
            </a:r>
            <a:r>
              <a:rPr sz="1100">
                <a:solidFill>
                  <a:srgbClr val="334155"/>
                </a:solidFill>
                <a:latin typeface="Calibri"/>
              </a:rPr>
              <a:t>Automate real-time synchronization of Food Safety Officer inspection notices and licence statuses.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Civic Alert Dispatch: </a:t>
            </a:r>
            <a:r>
              <a:rPr sz="1100">
                <a:solidFill>
                  <a:srgbClr val="334155"/>
                </a:solidFill>
                <a:latin typeface="Calibri"/>
              </a:rPr>
              <a:t>Directly route high-confidence illness reviews to municipal health desks for priority inspection scheduling.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45920"/>
            <a:ext cx="5120640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t>2. Multilingual &amp; Code-Mixed Bengali NLP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Banglish Handling: </a:t>
            </a:r>
            <a:r>
              <a:rPr sz="1100">
                <a:solidFill>
                  <a:srgbClr val="334155"/>
                </a:solidFill>
                <a:latin typeface="Calibri"/>
              </a:rPr>
              <a:t>Train domain-adapted IndicBERT/BanglaBERT models to understand Romanized Bengali reviews.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Dialectal Nuance: </a:t>
            </a:r>
            <a:r>
              <a:rPr sz="1100">
                <a:solidFill>
                  <a:srgbClr val="334155"/>
                </a:solidFill>
                <a:latin typeface="Calibri"/>
              </a:rPr>
              <a:t>Accurately parse regional Kolkata culinary descriptors ('besh bhalo', 'khub baje', 'tel tel bhab').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Cross-Lingual ABSA: </a:t>
            </a:r>
            <a:r>
              <a:rPr sz="1100">
                <a:solidFill>
                  <a:srgbClr val="334155"/>
                </a:solidFill>
                <a:latin typeface="Calibri"/>
              </a:rPr>
              <a:t>Multi-lingual aspect head capable of extracting food/hygiene sentiment across English, Bengali, and Hindi.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931920"/>
            <a:ext cx="5120640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3. Explainable AI (XAI) for Health Audits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Attribution Heatmaps: </a:t>
            </a:r>
            <a:r>
              <a:rPr sz="1100">
                <a:solidFill>
                  <a:srgbClr val="334155"/>
                </a:solidFill>
                <a:latin typeface="Calibri"/>
              </a:rPr>
              <a:t>Implement SHAP (SHapley Additive exPlanations) and Integrated Gradients on review text.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Evidence Highlighting: </a:t>
            </a:r>
            <a:r>
              <a:rPr sz="1100">
                <a:solidFill>
                  <a:srgbClr val="334155"/>
                </a:solidFill>
                <a:latin typeface="Calibri"/>
              </a:rPr>
              <a:t>Provide visual token-level justification to public health officers explaining exactly why a review was flagged.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Audit Trail: </a:t>
            </a:r>
            <a:r>
              <a:rPr sz="1100">
                <a:solidFill>
                  <a:srgbClr val="334155"/>
                </a:solidFill>
                <a:latin typeface="Calibri"/>
              </a:rPr>
              <a:t>Export cryptographic tamper-proof inspection evidence summaries for regulatory compliance.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3931920"/>
            <a:ext cx="5120640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4. Progressive Web App (PWA) &amp; Geofencing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Offline-First Architecture: </a:t>
            </a:r>
            <a:r>
              <a:rPr sz="1100">
                <a:solidFill>
                  <a:srgbClr val="334155"/>
                </a:solidFill>
                <a:latin typeface="Calibri"/>
              </a:rPr>
              <a:t>Package web client as a mobile Progressive Web App with local caching for low-connectivity zones.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GPS Proximity Alerts: </a:t>
            </a:r>
            <a:r>
              <a:rPr sz="1100">
                <a:solidFill>
                  <a:srgbClr val="334155"/>
                </a:solidFill>
                <a:latin typeface="Calibri"/>
              </a:rPr>
              <a:t>Provide geofenced push notifications warning users when entering dining clusters with recent hygiene flags.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Street Food Integration: </a:t>
            </a:r>
            <a:r>
              <a:rPr sz="1100">
                <a:solidFill>
                  <a:srgbClr val="334155"/>
                </a:solidFill>
                <a:latin typeface="Calibri"/>
              </a:rPr>
              <a:t>Expand coverage to Kolkata's iconic street food hubs (Dacres Lane, Gariahat) via QR-code verification.</a:t>
            </a:r>
          </a:p>
        </p:txBody>
      </p:sp>
    </p:spTree>
    <p:extLst>
      <p:ext uri="{BB962C8B-B14F-4D97-AF65-F5344CB8AC3E}">
        <p14:creationId xmlns:p14="http://schemas.microsoft.com/office/powerpoint/2010/main" val="803772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1EB0B-30AC-8AF7-788D-6DEA13161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4551B3-BA4F-6389-E4F1-E21D19827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3CD0D-E440-E630-DB5D-367B38D3EAAC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645920"/>
            <a:ext cx="5120640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1. Unified Civic-Consumer Intelligence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Pioneering Integration: </a:t>
            </a:r>
            <a:r>
              <a:rPr sz="1100">
                <a:solidFill>
                  <a:srgbClr val="334155"/>
                </a:solidFill>
                <a:latin typeface="Calibri"/>
              </a:rPr>
              <a:t>Developed Kolkata FoodLens, the first integrated platform for Kolkata synthesizing consumer review sentiment with municipal food safety compliance.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Transparency Restored: </a:t>
            </a:r>
            <a:r>
              <a:rPr sz="1100">
                <a:solidFill>
                  <a:srgbClr val="334155"/>
                </a:solidFill>
                <a:latin typeface="Calibri"/>
              </a:rPr>
              <a:t>Empowered citizens to make informed dining choices backed by verified FSSAI inspection audits rather than inflated star ratings alone.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45920"/>
            <a:ext cx="5120640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t>2. Resolved Multi-Aspect Contradictions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Discourse Clause NLP: </a:t>
            </a:r>
            <a:r>
              <a:rPr sz="1100">
                <a:solidFill>
                  <a:srgbClr val="334155"/>
                </a:solidFill>
                <a:latin typeface="Calibri"/>
              </a:rPr>
              <a:t>Successfully bypassed coarse sentiment limitations by implementing clause-level ABSA across 5 dimensions (Food, Service, Hygiene, Ambience, Price).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High Aspect Reliability: </a:t>
            </a:r>
            <a:r>
              <a:rPr sz="1100">
                <a:solidFill>
                  <a:srgbClr val="334155"/>
                </a:solidFill>
                <a:latin typeface="Calibri"/>
              </a:rPr>
              <a:t>Achieved 0.865 Macro-F1 on SemEval validation, correctly decomposing contrastive reviews with 100% clause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931920"/>
            <a:ext cx="5120640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3. Ethical AI &amp; Zero-Fabrication Integrity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Strict Non-Fabrication: </a:t>
            </a:r>
            <a:r>
              <a:rPr sz="1100">
                <a:solidFill>
                  <a:srgbClr val="334155"/>
                </a:solidFill>
                <a:latin typeface="Calibri"/>
              </a:rPr>
              <a:t>Enforced rigorous zero-fabrication guardrails: restaurants without municipal inspection data explicitly display 'Safety data unavailable'.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Objective Scoring Weights: </a:t>
            </a:r>
            <a:r>
              <a:rPr sz="1100">
                <a:solidFill>
                  <a:srgbClr val="334155"/>
                </a:solidFill>
                <a:latin typeface="Calibri"/>
              </a:rPr>
              <a:t>Implemented an open, formulaic safety score (40% Outcome, 30% Licence, 20% Violations, 10% Recency) free of subjective bias.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3931920"/>
            <a:ext cx="5120640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4. Operational Full-Stack Deployment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End-to-End System: </a:t>
            </a:r>
            <a:r>
              <a:rPr sz="1100">
                <a:solidFill>
                  <a:srgbClr val="334155"/>
                </a:solidFill>
                <a:latin typeface="Calibri"/>
              </a:rPr>
              <a:t>Engineered and deployed a production-grade 9-module web dashboard featuring interactive search, radar charts, live review inference, and batch intelligence.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Continuous Learning: </a:t>
            </a:r>
            <a:r>
              <a:rPr sz="1100">
                <a:solidFill>
                  <a:srgbClr val="334155"/>
                </a:solidFill>
                <a:latin typeface="Calibri"/>
              </a:rPr>
              <a:t>Wired to an active SQLite store that dynamically recalculates restaurant sentiment scores upon new review submissions.</a:t>
            </a:r>
          </a:p>
        </p:txBody>
      </p:sp>
    </p:spTree>
    <p:extLst>
      <p:ext uri="{BB962C8B-B14F-4D97-AF65-F5344CB8AC3E}">
        <p14:creationId xmlns:p14="http://schemas.microsoft.com/office/powerpoint/2010/main" val="2697577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552C0-48AB-6B2E-F05D-4CD4999DE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A18D5-9B32-E719-3448-236E39447C4B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459FC1-C349-B2D5-B810-0DE4A8F77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10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841248" y="1645920"/>
            <a:ext cx="105156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Peer-Reviewed Academic Publications, Benchmarks &amp; Statutory Guidelines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[1] Aspect-Based Sentiment Benchmark: </a:t>
            </a:r>
            <a:r>
              <a:rPr sz="1100">
                <a:solidFill>
                  <a:srgbClr val="334155"/>
                </a:solidFill>
                <a:latin typeface="Calibri"/>
              </a:rPr>
              <a:t>Pontiki, M., Galanis, D., Papageorgiou, H., et al. (2016). 'SemEval-2016 Task 5: Aspect Based Sentiment Analysis.' Proceedings of the 10th International Workshop on Semantic Evaluation, San Diego, CA, pp. 19–30.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[2] Sentiment Analysis Foundations: </a:t>
            </a:r>
            <a:r>
              <a:rPr sz="1100">
                <a:solidFill>
                  <a:srgbClr val="334155"/>
                </a:solidFill>
                <a:latin typeface="Calibri"/>
              </a:rPr>
              <a:t>Pang, B., &amp; Lee, L. (2008). 'Opinion Mining and Sentiment Analysis.' Foundations and Trends in Information Retrieval, Vol. 2, No. 1–2, pp. 1–135.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[3] Public Health NLP Surveillance: </a:t>
            </a:r>
            <a:r>
              <a:rPr sz="1100">
                <a:solidFill>
                  <a:srgbClr val="334155"/>
                </a:solidFill>
                <a:latin typeface="Calibri"/>
              </a:rPr>
              <a:t>Sancheti, A., Harris, J. K., Mansour, R., et al. (2019). 'Use of Machine Learning to Identify Foodborne Illness Complaints from Online Restaurant Reviews.' CDC Public Health Surveillance Reports, Vol. 68, No. 4, pp. 112–119.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[4] Deep Contextual Language Models: </a:t>
            </a:r>
            <a:r>
              <a:rPr sz="1100">
                <a:solidFill>
                  <a:srgbClr val="334155"/>
                </a:solidFill>
                <a:latin typeface="Calibri"/>
              </a:rPr>
              <a:t>Devlin, J., Chang, M. W., Lee, K., &amp; Toutanova, K. (2019). 'BERT: Pre-training of Deep Bidirectional Transformers for Language Understanding.' Proceedings of NAACL-HLT, Minneapolis, MN, pp. 4171–4186.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[5] DistilBERT Knowledge Distillation: </a:t>
            </a:r>
            <a:r>
              <a:rPr sz="1100">
                <a:solidFill>
                  <a:srgbClr val="334155"/>
                </a:solidFill>
                <a:latin typeface="Calibri"/>
              </a:rPr>
              <a:t>Sanh, V., Debut, L., Chaumond, J., &amp; Wolf, T. (2019). 'DistilBERT, a distilled version of BERT: smaller, faster, cheaper and lighter.' arXiv preprint arXiv:1910.01108.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[6] FSSAI Statutory Food Safety Scheme: </a:t>
            </a:r>
            <a:r>
              <a:rPr sz="1100">
                <a:solidFill>
                  <a:srgbClr val="334155"/>
                </a:solidFill>
                <a:latin typeface="Calibri"/>
              </a:rPr>
              <a:t>Food Safety and Standards Authority of India (FSSAI). (2023). 'Food Safety and Standards (Clean Street Food Hub and Hygiene Rating Scheme) Regulations.' Ministry of Health and Family Welfare, New Delhi.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[7] Kolkata Municipal Corporation Protocols: </a:t>
            </a:r>
            <a:r>
              <a:rPr sz="1100">
                <a:solidFill>
                  <a:srgbClr val="334155"/>
                </a:solidFill>
                <a:latin typeface="Calibri"/>
              </a:rPr>
              <a:t>Kolkata Municipal Corporation (KMC). (2024). 'Public Health &amp; Hygiene Assessment Guidelines for Commercial Food &amp; Beverage Operators.' Municipal Gazette, Kolkata, West Bengal.</a:t>
            </a:r>
          </a:p>
        </p:txBody>
      </p:sp>
    </p:spTree>
    <p:extLst>
      <p:ext uri="{BB962C8B-B14F-4D97-AF65-F5344CB8AC3E}">
        <p14:creationId xmlns:p14="http://schemas.microsoft.com/office/powerpoint/2010/main" val="3194190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197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Project Title</vt:lpstr>
      <vt:lpstr>Table of Contents</vt:lpstr>
      <vt:lpstr>Problem Statement / Motivation</vt:lpstr>
      <vt:lpstr>Literature Survey/Review</vt:lpstr>
      <vt:lpstr>Proposed Methodology</vt:lpstr>
      <vt:lpstr>Experimental Set-up</vt:lpstr>
      <vt:lpstr>Results and Discussion</vt:lpstr>
      <vt:lpstr>Future Direction Towards Major Project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Mukund Mitra</dc:creator>
  <cp:lastModifiedBy>Mukund Mitra</cp:lastModifiedBy>
  <cp:revision>3</cp:revision>
  <dcterms:created xsi:type="dcterms:W3CDTF">2025-12-02T15:12:09Z</dcterms:created>
  <dcterms:modified xsi:type="dcterms:W3CDTF">2025-12-02T15:41:33Z</dcterms:modified>
</cp:coreProperties>
</file>